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8" r:id="rId4"/>
    <p:sldId id="259" r:id="rId5"/>
    <p:sldId id="263" r:id="rId6"/>
    <p:sldId id="262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CC3EB-005D-3F47-9B00-04D51D935E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1850E-D9EF-484A-A8C9-FE3D915A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4915-DFE8-A9A2-34B7-0512642B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2A895-CD6E-D756-9847-523D76426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5E7B8-63AB-9F64-4EF6-660E69D63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73666-0DAF-6A4A-4C54-DE32A4D30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8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F1A4-EF57-4BCF-0858-AB9DA1B6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81DD-E0B0-0919-29F5-939E158D7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85342-948E-9BF7-F6BA-1348154FD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03847-D6CF-22C4-925B-CB090AEEA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8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529B-588D-6660-5B0A-01D0FB22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6EAEA-9E49-FA23-1FDA-255010478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AD1BB-AF80-4B6E-4C36-9F5E607A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BEA08-0B1E-979D-99DC-D064A58C1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68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26AB-210C-7881-3A4B-66E71638D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43EDC-E9DB-E1DD-16F6-427AA8734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6458-51A9-4D3E-26BC-DD663463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40C8D-8A64-789A-26A1-927AD91C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12669-4A2C-102F-51C0-475858E2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8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CF72-A570-5914-9390-2A933C58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7075-0567-2BD3-7F04-2627965AA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50EFC-BD88-AA67-024A-9F6C097D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E165-46F6-A7B5-27F9-B45E3F9D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D8657-0491-D159-A5AC-63381ECB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3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D7D8-ED2E-8C3D-D31E-1EF2FD8C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67C2B-7934-8CAD-57BF-99361DFB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3B92-9399-308D-5C94-6F0C0B8D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CF28-5A3F-1859-CF0D-C87F29FF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9F743-9763-32B1-5E49-D280C951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6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0F46-90E0-160C-9DA4-870BA2E4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9B9E-47E6-3694-DD2D-3A3D16112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63A57-1E46-0846-6757-7A6893BE4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76AE-7A21-04F6-29B1-EE170FA5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B4386-FD47-3C8A-112C-75044A30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25CBD-0923-5DFB-9348-3F717BC5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1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AB63-81F6-BCB7-3502-24894C69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FBA12-CC6E-44D7-8F8E-3D03B435E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5141A-200E-769C-F5C7-AB14F337D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DBDB7-6E97-D0C1-F3AA-D7CF95BA2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E352-7F91-274F-9D15-06B86C0EB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BB8BD-B14D-CC86-18E0-F627C283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401F4-6F9B-D25E-B4FE-DE4C3D56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B08CC-FA66-3F58-A395-2F968EF8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3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1F11-90DD-917C-B06B-CC7C0C87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F87C3-B237-7550-BCC0-65AF9CD0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047F2-E5A6-EBBE-66D6-1B01EF17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398A0-D891-E6AF-D1E9-437DA39F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7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BA60D-4CA0-4AD4-F8ED-CDC80037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2248D-FCDC-3924-D612-FA44E4C3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9CC66-3F20-2AD6-6253-8DC2B8F2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6031-8039-287C-D89F-2BDF8934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2F9E-BCE6-9515-E743-AEA16998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D15F3-5958-C5C4-5B61-5FA107BE7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8C66A-E861-EFB9-21C7-0B1B4B8D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CD726-1A65-3917-7714-45F2AEE2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6A97C-E2FD-034C-C522-EF6D38E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33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4400-CDB0-5BCD-5915-006500A1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AAADD-A7D5-4837-743A-09377129C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5D2B-FD10-24AC-3907-66A7D2970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04FC1-100B-1F83-B98E-006FCF2D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41435-4172-98D3-6584-58DE9213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C3DDB-4572-C921-B1BC-CA0A3554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7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317C-E1CC-5CC9-C6C2-629A7EF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1478-F777-267A-9568-B5F49E1C0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3A44F-B444-56FE-9E88-1078C7ED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8784-F1D0-351F-0A79-D1CB5D8E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6E08-346E-E60B-C901-2CE7CEB6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7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AAED4-3669-8DB5-503D-75BB9405B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14059-E7C7-BF17-0FA5-0A3214FE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6DB9-486C-EB31-CA6B-02D25ED4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9BFB9-137E-C75F-82BF-679DB228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0EBC8-D9D6-6184-71C9-402260AC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5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8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72134-7B66-D802-8C4B-664686D2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7B69-AB5F-53E8-25C5-9F80F86E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EB6B-601A-CE11-1FC2-8B3E8B1E8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B54D6-1774-E942-ACB0-7482290EE97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F250-5F60-5E61-2C97-59987FAD8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8D0D7-85DC-3B59-5A70-621CCD16F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85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20C6-E0D2-F189-2C31-505B0923C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Credit Risk Specialist - Assignment</a:t>
            </a:r>
          </a:p>
        </p:txBody>
      </p:sp>
    </p:spTree>
    <p:extLst>
      <p:ext uri="{BB962C8B-B14F-4D97-AF65-F5344CB8AC3E}">
        <p14:creationId xmlns:p14="http://schemas.microsoft.com/office/powerpoint/2010/main" val="242398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Management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40843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India · Europe — Risk Controls, Regulation &amp; Reporting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— Definition &amp; Risk Landscape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0480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" y="1219200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42672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Negative Balance?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426720" y="1731264"/>
            <a:ext cx="3535680" cy="4301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Negative Balance (NB) occurs when a customer </a:t>
            </a:r>
            <a:r>
              <a:rPr lang="en-IN" sz="1400" b="1" dirty="0"/>
              <a:t>withdraws or spends more than their available account balance</a:t>
            </a:r>
            <a:r>
              <a:rPr lang="en-IN" sz="1400" dirty="0"/>
              <a:t>, effectively creating </a:t>
            </a:r>
            <a:r>
              <a:rPr lang="en-IN" sz="1400" b="1" dirty="0"/>
              <a:t>unsecured short-term credit exposure</a:t>
            </a:r>
            <a:r>
              <a:rPr lang="en-IN" sz="1400" dirty="0"/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420624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219200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0" name="Text 8"/>
          <p:cNvSpPr/>
          <p:nvPr/>
        </p:nvSpPr>
        <p:spPr>
          <a:xfrm>
            <a:off x="432816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32816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Key Risk Area Impacted by Negative Balance-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Credit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Liquidity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Regulatory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Fraud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Customer Behaviour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Operational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Provisioning &amp; Financial Impact</a:t>
            </a:r>
          </a:p>
          <a:p>
            <a:pPr>
              <a:buSzPct val="100000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768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7680" y="1219200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22960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happen in Fintech/ Banking?</a:t>
            </a:r>
          </a:p>
          <a:p>
            <a:r>
              <a:rPr lang="en-IN" sz="1400" dirty="0"/>
              <a:t>            NB is common in: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wallets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prepaid cards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merchant settlement accounts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acquiring / POS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UPI credit / BNPL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credit cards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SME accounts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payment gateway settlements</a:t>
            </a:r>
          </a:p>
          <a:p>
            <a:pPr marL="457189" indent="-457189">
              <a:buSzPct val="100000"/>
              <a:buChar char="•"/>
            </a:pPr>
            <a:endParaRPr lang="en-US" sz="14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8BFBAD2-BA57-095D-BD89-0D37B0134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197223"/>
              </p:ext>
            </p:extLst>
          </p:nvPr>
        </p:nvGraphicFramePr>
        <p:xfrm>
          <a:off x="304799" y="4413504"/>
          <a:ext cx="11582400" cy="2271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967">
                  <a:extLst>
                    <a:ext uri="{9D8B030D-6E8A-4147-A177-3AD203B41FA5}">
                      <a16:colId xmlns:a16="http://schemas.microsoft.com/office/drawing/2014/main" val="214137003"/>
                    </a:ext>
                  </a:extLst>
                </a:gridCol>
                <a:gridCol w="3389971">
                  <a:extLst>
                    <a:ext uri="{9D8B030D-6E8A-4147-A177-3AD203B41FA5}">
                      <a16:colId xmlns:a16="http://schemas.microsoft.com/office/drawing/2014/main" val="3208153476"/>
                    </a:ext>
                  </a:extLst>
                </a:gridCol>
                <a:gridCol w="3278458">
                  <a:extLst>
                    <a:ext uri="{9D8B030D-6E8A-4147-A177-3AD203B41FA5}">
                      <a16:colId xmlns:a16="http://schemas.microsoft.com/office/drawing/2014/main" val="3538698706"/>
                    </a:ext>
                  </a:extLst>
                </a:gridCol>
                <a:gridCol w="3245004">
                  <a:extLst>
                    <a:ext uri="{9D8B030D-6E8A-4147-A177-3AD203B41FA5}">
                      <a16:colId xmlns:a16="http://schemas.microsoft.com/office/drawing/2014/main" val="173859730"/>
                    </a:ext>
                  </a:extLst>
                </a:gridCol>
              </a:tblGrid>
              <a:tr h="38823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UK (FCA)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EU(EBA)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India (RBI)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6790"/>
                  </a:ext>
                </a:extLst>
              </a:tr>
              <a:tr h="439998">
                <a:tc>
                  <a:txBody>
                    <a:bodyPr/>
                    <a:lstStyle/>
                    <a:p>
                      <a:r>
                        <a:rPr lang="en-US" sz="1400" dirty="0"/>
                        <a:t>Regulatory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Protection, Fair treatment, transparency.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Risk Governance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Conservative, Compliance Driven, Misuse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034400"/>
                  </a:ext>
                </a:extLst>
              </a:tr>
              <a:tr h="337713">
                <a:tc>
                  <a:txBody>
                    <a:bodyPr/>
                    <a:lstStyle/>
                    <a:p>
                      <a:r>
                        <a:rPr lang="en-US" sz="1400" dirty="0"/>
                        <a:t>Customer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Centric, controlled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Risk Based, data 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Strict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174244"/>
                  </a:ext>
                </a:extLst>
              </a:tr>
              <a:tr h="439998">
                <a:tc>
                  <a:txBody>
                    <a:bodyPr/>
                    <a:lstStyle/>
                    <a:p>
                      <a:r>
                        <a:rPr lang="en-US" sz="1400" dirty="0"/>
                        <a:t>NB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Small NB limit allowed with clear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NB treated as credit exposure, strong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NB tightly restricted, minimal exposure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1671"/>
                  </a:ext>
                </a:extLst>
              </a:tr>
              <a:tr h="439998">
                <a:tc>
                  <a:txBody>
                    <a:bodyPr/>
                    <a:lstStyle/>
                    <a:p>
                      <a:r>
                        <a:rPr lang="en-US" sz="1400" dirty="0"/>
                        <a:t>Key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Affordability check, clear terms, 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ECL provisioning, model-based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 KYC, Low limits, fraud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609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AC40-DF6B-CEBC-9865-854137C6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71245C-71AA-EE5B-9AC3-B07B690B7464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— Risk Management Framework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32CB7D-F4E8-C2BF-DE90-6E5F83A2AE8B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5F01BA-DF26-9151-4E7C-43B30C470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10" y="1250950"/>
            <a:ext cx="2060725" cy="15850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631775-516D-2413-0DEE-D79CE31C5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430" y="1229487"/>
            <a:ext cx="2058924" cy="15850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B96F29-82E4-C48E-683C-F42755424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570" y="1250949"/>
            <a:ext cx="1966725" cy="15850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9202D0-0162-D730-4F49-6DFCD7E2C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0023" y="1229486"/>
            <a:ext cx="2150261" cy="1461505"/>
          </a:xfrm>
          <a:prstGeom prst="rect">
            <a:avLst/>
          </a:prstGeom>
        </p:spPr>
      </p:pic>
      <p:sp>
        <p:nvSpPr>
          <p:cNvPr id="30" name="Curved Up Arrow 29">
            <a:extLst>
              <a:ext uri="{FF2B5EF4-FFF2-40B4-BE49-F238E27FC236}">
                <a16:creationId xmlns:a16="http://schemas.microsoft.com/office/drawing/2014/main" id="{73087E30-85FF-F93C-749F-421F77EE4893}"/>
              </a:ext>
            </a:extLst>
          </p:cNvPr>
          <p:cNvSpPr/>
          <p:nvPr/>
        </p:nvSpPr>
        <p:spPr>
          <a:xfrm>
            <a:off x="2289861" y="2789490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urved Up Arrow 33">
            <a:extLst>
              <a:ext uri="{FF2B5EF4-FFF2-40B4-BE49-F238E27FC236}">
                <a16:creationId xmlns:a16="http://schemas.microsoft.com/office/drawing/2014/main" id="{62F090DD-7364-FC80-0322-A5D4BA99E722}"/>
              </a:ext>
            </a:extLst>
          </p:cNvPr>
          <p:cNvSpPr/>
          <p:nvPr/>
        </p:nvSpPr>
        <p:spPr>
          <a:xfrm>
            <a:off x="4554187" y="2821671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Up Arrow 34">
            <a:extLst>
              <a:ext uri="{FF2B5EF4-FFF2-40B4-BE49-F238E27FC236}">
                <a16:creationId xmlns:a16="http://schemas.microsoft.com/office/drawing/2014/main" id="{BBF08D70-5C77-3AD6-E39C-80D40FF9A242}"/>
              </a:ext>
            </a:extLst>
          </p:cNvPr>
          <p:cNvSpPr/>
          <p:nvPr/>
        </p:nvSpPr>
        <p:spPr>
          <a:xfrm>
            <a:off x="6856423" y="2835977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Curved Up Arrow 35">
            <a:extLst>
              <a:ext uri="{FF2B5EF4-FFF2-40B4-BE49-F238E27FC236}">
                <a16:creationId xmlns:a16="http://schemas.microsoft.com/office/drawing/2014/main" id="{9ABED372-0FCA-7DF3-E94E-9CD32E14CF2D}"/>
              </a:ext>
            </a:extLst>
          </p:cNvPr>
          <p:cNvSpPr/>
          <p:nvPr/>
        </p:nvSpPr>
        <p:spPr>
          <a:xfrm>
            <a:off x="9177557" y="2789490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2CA686D5-CDC4-1765-D881-05B803EDA011}"/>
              </a:ext>
            </a:extLst>
          </p:cNvPr>
          <p:cNvSpPr/>
          <p:nvPr/>
        </p:nvSpPr>
        <p:spPr>
          <a:xfrm>
            <a:off x="19171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E3B17B01-9FD3-3473-8531-423CFE4485AA}"/>
              </a:ext>
            </a:extLst>
          </p:cNvPr>
          <p:cNvSpPr/>
          <p:nvPr/>
        </p:nvSpPr>
        <p:spPr>
          <a:xfrm>
            <a:off x="191716" y="3637307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4A3491E-D971-4AF0-CBB9-4372076A8DEF}"/>
              </a:ext>
            </a:extLst>
          </p:cNvPr>
          <p:cNvSpPr/>
          <p:nvPr/>
        </p:nvSpPr>
        <p:spPr>
          <a:xfrm>
            <a:off x="31363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 — Operations / Product</a:t>
            </a:r>
            <a:endParaRPr lang="en-US" sz="1467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322F7EA5-DF5D-9546-6B2B-C005C8ADBD4F}"/>
              </a:ext>
            </a:extLst>
          </p:cNvPr>
          <p:cNvSpPr/>
          <p:nvPr/>
        </p:nvSpPr>
        <p:spPr>
          <a:xfrm>
            <a:off x="313636" y="4149371"/>
            <a:ext cx="3535680" cy="2109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checks before payment initiation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block at transaction gateway when Limit Exceed – Create Exposure Limit.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block at transaction gateway.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Communication.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exposure dashboard for Ops team</a:t>
            </a:r>
            <a:endParaRPr lang="en-US" sz="14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11C2BC5D-6BA4-B3F7-F97B-444DF3AB925B}"/>
              </a:ext>
            </a:extLst>
          </p:cNvPr>
          <p:cNvSpPr/>
          <p:nvPr/>
        </p:nvSpPr>
        <p:spPr>
          <a:xfrm>
            <a:off x="409315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910381D0-13DA-8BB0-01C3-E79E24E5DE2D}"/>
              </a:ext>
            </a:extLst>
          </p:cNvPr>
          <p:cNvSpPr/>
          <p:nvPr/>
        </p:nvSpPr>
        <p:spPr>
          <a:xfrm>
            <a:off x="4093156" y="3637307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1458AB7D-5075-8A45-1D68-AA4F525F1EC8}"/>
              </a:ext>
            </a:extLst>
          </p:cNvPr>
          <p:cNvSpPr/>
          <p:nvPr/>
        </p:nvSpPr>
        <p:spPr>
          <a:xfrm>
            <a:off x="421507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— Credit Risk &amp; Compliance</a:t>
            </a:r>
            <a:endParaRPr lang="en-US" sz="1467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47B4DAE5-A85E-F3B1-82D4-F45B7BB4A0B6}"/>
              </a:ext>
            </a:extLst>
          </p:cNvPr>
          <p:cNvSpPr/>
          <p:nvPr/>
        </p:nvSpPr>
        <p:spPr>
          <a:xfrm>
            <a:off x="4215076" y="4149371"/>
            <a:ext cx="3535680" cy="2262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NB exposure MI — daily ageing buckets (0-7d, 8-30d, 31-60d, 60d+)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 reviews on aggregate NB exposure per market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Early warning Indicators.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reporting: FCA Gabriel, RBI CRILC, EBA corep templates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Design.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Model &amp; Strategy Validation.</a:t>
            </a:r>
            <a:endParaRPr lang="en-US" sz="14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FDCF2D43-5D43-9EC6-5919-346BDEF8EA71}"/>
              </a:ext>
            </a:extLst>
          </p:cNvPr>
          <p:cNvSpPr/>
          <p:nvPr/>
        </p:nvSpPr>
        <p:spPr>
          <a:xfrm>
            <a:off x="799459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EDC5549-038A-5D09-A5BB-6811598037E3}"/>
              </a:ext>
            </a:extLst>
          </p:cNvPr>
          <p:cNvSpPr/>
          <p:nvPr/>
        </p:nvSpPr>
        <p:spPr>
          <a:xfrm>
            <a:off x="7994596" y="3637307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4B3BC8B0-4733-F2E5-1A43-EC6CF11AE082}"/>
              </a:ext>
            </a:extLst>
          </p:cNvPr>
          <p:cNvSpPr/>
          <p:nvPr/>
        </p:nvSpPr>
        <p:spPr>
          <a:xfrm>
            <a:off x="811651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Line — Internal Audit</a:t>
            </a:r>
            <a:endParaRPr lang="en-US" sz="1467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343CBCE-E9CB-122F-483D-3DAECC2809EC}"/>
              </a:ext>
            </a:extLst>
          </p:cNvPr>
          <p:cNvSpPr/>
          <p:nvPr/>
        </p:nvSpPr>
        <p:spPr>
          <a:xfrm>
            <a:off x="8116516" y="4149371"/>
            <a:ext cx="3535680" cy="2262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audit of NB controls effectiveness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testing of recovery actions vs policy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provisioning methodology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readiness reviews</a:t>
            </a:r>
            <a:endParaRPr lang="en-US" sz="1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DC6A93D-2E8C-3DB2-8994-F9F4E074AF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37" y="1250950"/>
            <a:ext cx="2277338" cy="15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6CA9-47AF-A9DC-F945-79AA6667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6FED96-FBCF-728A-EBDB-3A95D9E17E48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Controls Framework — Three Lines of Defence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5F003C-A0EC-11E2-F725-FB78EFF95E84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F9D854-0855-40A3-1885-308CF2BA52E1}"/>
              </a:ext>
            </a:extLst>
          </p:cNvPr>
          <p:cNvSpPr/>
          <p:nvPr/>
        </p:nvSpPr>
        <p:spPr>
          <a:xfrm>
            <a:off x="1129990" y="1169392"/>
            <a:ext cx="9932019" cy="24150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B0FCF2-7DDD-49A3-47E1-E8763860E0EA}"/>
              </a:ext>
            </a:extLst>
          </p:cNvPr>
          <p:cNvSpPr/>
          <p:nvPr/>
        </p:nvSpPr>
        <p:spPr>
          <a:xfrm>
            <a:off x="1129991" y="1169392"/>
            <a:ext cx="9932020" cy="4632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93996A-2BDB-5BEC-A3E8-56436AA52416}"/>
              </a:ext>
            </a:extLst>
          </p:cNvPr>
          <p:cNvSpPr/>
          <p:nvPr/>
        </p:nvSpPr>
        <p:spPr>
          <a:xfrm>
            <a:off x="4842603" y="1205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Key Metrics Monitored</a:t>
            </a:r>
            <a:endParaRPr lang="en-US" sz="1467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3DDBF8A-F92C-4EE8-A1EC-731216A86284}"/>
              </a:ext>
            </a:extLst>
          </p:cNvPr>
          <p:cNvSpPr/>
          <p:nvPr/>
        </p:nvSpPr>
        <p:spPr>
          <a:xfrm>
            <a:off x="487680" y="5144200"/>
            <a:ext cx="3360234" cy="1057803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BA67A3-D41D-E75B-213B-ABCC05BC4F89}"/>
              </a:ext>
            </a:extLst>
          </p:cNvPr>
          <p:cNvSpPr txBox="1"/>
          <p:nvPr/>
        </p:nvSpPr>
        <p:spPr>
          <a:xfrm>
            <a:off x="487680" y="5144200"/>
            <a:ext cx="3189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Extraction &amp; Storage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SQL Databases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9E66D96-E6B6-5751-96A0-9D3BCB86EEB8}"/>
              </a:ext>
            </a:extLst>
          </p:cNvPr>
          <p:cNvSpPr/>
          <p:nvPr/>
        </p:nvSpPr>
        <p:spPr>
          <a:xfrm>
            <a:off x="4318124" y="5098034"/>
            <a:ext cx="3683620" cy="1103970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1139B-B445-7FEC-D76E-63B8ABC2F00C}"/>
              </a:ext>
            </a:extLst>
          </p:cNvPr>
          <p:cNvSpPr txBox="1"/>
          <p:nvPr/>
        </p:nvSpPr>
        <p:spPr>
          <a:xfrm>
            <a:off x="4318124" y="5144200"/>
            <a:ext cx="3995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Real-Time Monitoring &amp; Alerting Tools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Transaction Monitoring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Event based alert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Fraud detection systems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3BBC578-9230-16DB-2777-9CB5DC6558C8}"/>
              </a:ext>
            </a:extLst>
          </p:cNvPr>
          <p:cNvSpPr/>
          <p:nvPr/>
        </p:nvSpPr>
        <p:spPr>
          <a:xfrm>
            <a:off x="8471954" y="5098033"/>
            <a:ext cx="3360234" cy="1103959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1CC94-93ED-A2E7-A895-CC7A0DB1D70E}"/>
              </a:ext>
            </a:extLst>
          </p:cNvPr>
          <p:cNvSpPr txBox="1"/>
          <p:nvPr/>
        </p:nvSpPr>
        <p:spPr>
          <a:xfrm>
            <a:off x="8471954" y="5144200"/>
            <a:ext cx="36836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MIS &amp; Reporting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Internal MIS reports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Schedule reporting systems</a:t>
            </a: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9F2C6EBF-6895-B7A0-FE5F-3A484EFAD6DB}"/>
              </a:ext>
            </a:extLst>
          </p:cNvPr>
          <p:cNvSpPr/>
          <p:nvPr/>
        </p:nvSpPr>
        <p:spPr>
          <a:xfrm>
            <a:off x="707731" y="402731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Tools use to Report Negative Balance Exposure</a:t>
            </a:r>
            <a:endParaRPr lang="en-US" sz="2933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5662CC-3D00-8FA6-AE31-ABA6AC59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77" y="1879702"/>
            <a:ext cx="1332701" cy="1332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2CAC16-ECE9-FAAE-61F4-877D583D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368" y="1879701"/>
            <a:ext cx="1357847" cy="1332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940870C-53A1-2CAF-B868-9890D745E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946" y="1881117"/>
            <a:ext cx="1424692" cy="11053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CE6F21-7DF1-6B0F-745A-EE58E2663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572" y="1874351"/>
            <a:ext cx="1332701" cy="13070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79A2FF-C00D-D81E-93D9-50D224F0A8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932" y="1875898"/>
            <a:ext cx="1332700" cy="11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7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Oversight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40843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Recovery — Strategy, Governance &amp; Regulatory Compliance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509C-8073-2ED9-ADD5-2ED4E04A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5C0209-1BDD-6A4D-7A78-C4156C2123B3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Collections Framework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FB4389-9823-F54E-F438-9C7C0D8AB64B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068AF6-174D-A0DC-8F3C-037340016CF2}"/>
              </a:ext>
            </a:extLst>
          </p:cNvPr>
          <p:cNvSpPr/>
          <p:nvPr/>
        </p:nvSpPr>
        <p:spPr>
          <a:xfrm>
            <a:off x="304800" y="1219199"/>
            <a:ext cx="3779520" cy="537057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B939E9-4F06-34DB-D025-2AB63387D7E7}"/>
              </a:ext>
            </a:extLst>
          </p:cNvPr>
          <p:cNvSpPr/>
          <p:nvPr/>
        </p:nvSpPr>
        <p:spPr>
          <a:xfrm>
            <a:off x="304800" y="1219200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A60A05-9E2F-BDB0-326D-BF8CD434E8B0}"/>
              </a:ext>
            </a:extLst>
          </p:cNvPr>
          <p:cNvSpPr/>
          <p:nvPr/>
        </p:nvSpPr>
        <p:spPr>
          <a:xfrm>
            <a:off x="42672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Segmentation</a:t>
            </a:r>
            <a:endParaRPr lang="en-US" sz="146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8B8DFB-6120-429C-DCDC-9AA30C4B99C9}"/>
              </a:ext>
            </a:extLst>
          </p:cNvPr>
          <p:cNvSpPr/>
          <p:nvPr/>
        </p:nvSpPr>
        <p:spPr>
          <a:xfrm>
            <a:off x="426720" y="1731264"/>
            <a:ext cx="3535680" cy="1569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Low Risk Segment – Having Good Credit History – </a:t>
            </a:r>
            <a:r>
              <a:rPr lang="en-IN" sz="1400" b="1" dirty="0"/>
              <a:t>Soft Reminders.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Medium Risk Segment - Occasional delays – </a:t>
            </a:r>
            <a:r>
              <a:rPr lang="en-IN" sz="1400" b="1" dirty="0"/>
              <a:t>Calls+ nudges.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High Risk – Frequent NB / no repayment – </a:t>
            </a:r>
            <a:r>
              <a:rPr lang="en-IN" sz="1400" b="1" dirty="0"/>
              <a:t>Strong Action.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C1FA33-310D-7A65-11D0-49E77AC21BC7}"/>
              </a:ext>
            </a:extLst>
          </p:cNvPr>
          <p:cNvSpPr/>
          <p:nvPr/>
        </p:nvSpPr>
        <p:spPr>
          <a:xfrm>
            <a:off x="4206240" y="1219200"/>
            <a:ext cx="3779520" cy="5370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F8A647-1AA3-2119-BC5F-6B29B2A090A8}"/>
              </a:ext>
            </a:extLst>
          </p:cNvPr>
          <p:cNvSpPr/>
          <p:nvPr/>
        </p:nvSpPr>
        <p:spPr>
          <a:xfrm>
            <a:off x="4206240" y="1219200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C6426F-5E05-4C1F-5081-2984B95F5FC7}"/>
              </a:ext>
            </a:extLst>
          </p:cNvPr>
          <p:cNvSpPr/>
          <p:nvPr/>
        </p:nvSpPr>
        <p:spPr>
          <a:xfrm>
            <a:off x="432816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Automated Collections Workflow</a:t>
            </a:r>
            <a:endParaRPr lang="en-US" sz="14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CA2A59-37B1-06F3-8E5F-5CE464F30F1A}"/>
              </a:ext>
            </a:extLst>
          </p:cNvPr>
          <p:cNvSpPr/>
          <p:nvPr/>
        </p:nvSpPr>
        <p:spPr>
          <a:xfrm>
            <a:off x="432816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0 (NB Created)</a:t>
            </a: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Instant SMS / App notification</a:t>
            </a:r>
          </a:p>
          <a:p>
            <a:pPr>
              <a:buSzPct val="10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Day 1-3</a:t>
            </a: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Reminder notifications &amp; Email, App notification.</a:t>
            </a:r>
          </a:p>
          <a:p>
            <a:pPr>
              <a:buSzPct val="10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Day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3-7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SMS + call attempt; restrict outgoing payments (card present)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8-30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Dedicated collections team; payment plan offered; hardship flag if SME distress signals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31-60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Formal demand letter; account suspension; third-party agency referral assessment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60+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IFRS 9 Stage 3; write-off with board approval; legal recovery where economically viable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7133E61-91F3-E59C-C2BE-5B18A0710777}"/>
              </a:ext>
            </a:extLst>
          </p:cNvPr>
          <p:cNvSpPr/>
          <p:nvPr/>
        </p:nvSpPr>
        <p:spPr>
          <a:xfrm>
            <a:off x="810768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68B1662-FAA9-38D9-B7CF-456EE47766DE}"/>
              </a:ext>
            </a:extLst>
          </p:cNvPr>
          <p:cNvSpPr/>
          <p:nvPr/>
        </p:nvSpPr>
        <p:spPr>
          <a:xfrm>
            <a:off x="8107680" y="1219200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EEF88F-0FC8-78EA-1143-AE0C77837CE2}"/>
              </a:ext>
            </a:extLst>
          </p:cNvPr>
          <p:cNvSpPr/>
          <p:nvPr/>
        </p:nvSpPr>
        <p:spPr>
          <a:xfrm>
            <a:off x="822960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Monitoring &amp; KPIs</a:t>
            </a:r>
            <a:endParaRPr lang="en-US" sz="1467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23A53D-8987-2875-F2D1-AF684234FA3F}"/>
              </a:ext>
            </a:extLst>
          </p:cNvPr>
          <p:cNvSpPr/>
          <p:nvPr/>
        </p:nvSpPr>
        <p:spPr>
          <a:xfrm>
            <a:off x="822960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KPIs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Recovery Rate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Roll Rate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Aging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Cure Rate</a:t>
            </a:r>
          </a:p>
          <a:p>
            <a:pPr lvl="1"/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Dashboard Layout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Portfolio Overview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Aging &amp; Delinquency analysis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Recovery performance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EWI</a:t>
            </a:r>
          </a:p>
        </p:txBody>
      </p:sp>
    </p:spTree>
    <p:extLst>
      <p:ext uri="{BB962C8B-B14F-4D97-AF65-F5344CB8AC3E}">
        <p14:creationId xmlns:p14="http://schemas.microsoft.com/office/powerpoint/2010/main" val="287321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SME Credit Decisioning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40843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Monitoring · Cohort Analysis · Thin-File Fairness · Provisioning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577</Words>
  <Application>Microsoft Macintosh PowerPoint</Application>
  <PresentationFormat>Widescreen</PresentationFormat>
  <Paragraphs>127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Wingdings</vt:lpstr>
      <vt:lpstr>Office Theme</vt:lpstr>
      <vt:lpstr>1_Office Theme</vt:lpstr>
      <vt:lpstr>Credit Risk Specialist -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garg</dc:creator>
  <cp:lastModifiedBy>swapnil garg</cp:lastModifiedBy>
  <cp:revision>1</cp:revision>
  <dcterms:created xsi:type="dcterms:W3CDTF">2026-04-19T09:04:51Z</dcterms:created>
  <dcterms:modified xsi:type="dcterms:W3CDTF">2026-04-19T18:29:33Z</dcterms:modified>
</cp:coreProperties>
</file>