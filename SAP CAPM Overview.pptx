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90" r:id="rId6"/>
    <p:sldId id="258" r:id="rId7"/>
    <p:sldId id="286" r:id="rId8"/>
    <p:sldId id="291" r:id="rId9"/>
    <p:sldId id="292" r:id="rId10"/>
    <p:sldId id="293" r:id="rId11"/>
    <p:sldId id="294" r:id="rId12"/>
    <p:sldId id="295" r:id="rId13"/>
    <p:sldId id="297" r:id="rId14"/>
    <p:sldId id="299" r:id="rId15"/>
    <p:sldId id="298" r:id="rId16"/>
    <p:sldId id="300" r:id="rId17"/>
    <p:sldId id="301" r:id="rId18"/>
    <p:sldId id="29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1641AD-3D24-49DD-AE7F-ACC6EED685A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6C0F6E19-6DE7-4115-9CE0-7BF46165BE79}">
      <dgm:prSet/>
      <dgm:spPr/>
      <dgm:t>
        <a:bodyPr/>
        <a:lstStyle/>
        <a:p>
          <a:r>
            <a:rPr lang="en-US"/>
            <a:t>Cloud Application Programming Model (CAPM)</a:t>
          </a:r>
        </a:p>
      </dgm:t>
    </dgm:pt>
    <dgm:pt modelId="{4AEAE753-FCFE-45D7-9E19-0F7FF3FD7A53}" type="parTrans" cxnId="{F9D1A2E1-536A-4102-8EA1-C6A6AD208FC0}">
      <dgm:prSet/>
      <dgm:spPr/>
      <dgm:t>
        <a:bodyPr/>
        <a:lstStyle/>
        <a:p>
          <a:endParaRPr lang="en-US"/>
        </a:p>
      </dgm:t>
    </dgm:pt>
    <dgm:pt modelId="{7A4B9FE4-6D55-4298-B8D8-0693AED7D1E7}" type="sibTrans" cxnId="{F9D1A2E1-536A-4102-8EA1-C6A6AD208FC0}">
      <dgm:prSet/>
      <dgm:spPr/>
      <dgm:t>
        <a:bodyPr/>
        <a:lstStyle/>
        <a:p>
          <a:endParaRPr lang="en-US"/>
        </a:p>
      </dgm:t>
    </dgm:pt>
    <dgm:pt modelId="{FEBED6D6-CD0B-4DD1-8EE8-D54763779595}">
      <dgm:prSet/>
      <dgm:spPr/>
      <dgm:t>
        <a:bodyPr/>
        <a:lstStyle/>
        <a:p>
          <a:r>
            <a:rPr lang="en-US"/>
            <a:t>SAP’s framework for building cloud-native enterprise apps and services on SAP BTP.</a:t>
          </a:r>
        </a:p>
      </dgm:t>
    </dgm:pt>
    <dgm:pt modelId="{227FBC88-EADF-4FBE-AC0C-386DDEE80608}" type="parTrans" cxnId="{AF0BE573-F98B-489A-AC89-48F39BEF07D5}">
      <dgm:prSet/>
      <dgm:spPr/>
      <dgm:t>
        <a:bodyPr/>
        <a:lstStyle/>
        <a:p>
          <a:endParaRPr lang="en-US"/>
        </a:p>
      </dgm:t>
    </dgm:pt>
    <dgm:pt modelId="{23B44FFF-793E-4CEF-804A-5CC10A05A4F0}" type="sibTrans" cxnId="{AF0BE573-F98B-489A-AC89-48F39BEF07D5}">
      <dgm:prSet/>
      <dgm:spPr/>
      <dgm:t>
        <a:bodyPr/>
        <a:lstStyle/>
        <a:p>
          <a:endParaRPr lang="en-US"/>
        </a:p>
      </dgm:t>
    </dgm:pt>
    <dgm:pt modelId="{ED38494F-1E2C-4B8B-9D93-7869FBDA510B}" type="pres">
      <dgm:prSet presAssocID="{8F1641AD-3D24-49DD-AE7F-ACC6EED685A2}" presName="root" presStyleCnt="0">
        <dgm:presLayoutVars>
          <dgm:dir/>
          <dgm:resizeHandles val="exact"/>
        </dgm:presLayoutVars>
      </dgm:prSet>
      <dgm:spPr/>
    </dgm:pt>
    <dgm:pt modelId="{F4676658-6521-4656-BA25-F4130CB30BB0}" type="pres">
      <dgm:prSet presAssocID="{6C0F6E19-6DE7-4115-9CE0-7BF46165BE79}" presName="compNode" presStyleCnt="0"/>
      <dgm:spPr/>
    </dgm:pt>
    <dgm:pt modelId="{DBF0CF0B-2740-41E4-A3E9-723C1FE4610F}" type="pres">
      <dgm:prSet presAssocID="{6C0F6E19-6DE7-4115-9CE0-7BF46165BE79}" presName="bgRect" presStyleLbl="bgShp" presStyleIdx="0" presStyleCnt="2"/>
      <dgm:spPr/>
    </dgm:pt>
    <dgm:pt modelId="{D5131042-D66F-4BDE-A522-4607506BBEE6}" type="pres">
      <dgm:prSet presAssocID="{6C0F6E19-6DE7-4115-9CE0-7BF46165BE7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EF8127D0-B253-4347-962D-43D39EA6A8F0}" type="pres">
      <dgm:prSet presAssocID="{6C0F6E19-6DE7-4115-9CE0-7BF46165BE79}" presName="spaceRect" presStyleCnt="0"/>
      <dgm:spPr/>
    </dgm:pt>
    <dgm:pt modelId="{1799F8BE-7082-4D39-93AE-C88F9D4C0E61}" type="pres">
      <dgm:prSet presAssocID="{6C0F6E19-6DE7-4115-9CE0-7BF46165BE79}" presName="parTx" presStyleLbl="revTx" presStyleIdx="0" presStyleCnt="2">
        <dgm:presLayoutVars>
          <dgm:chMax val="0"/>
          <dgm:chPref val="0"/>
        </dgm:presLayoutVars>
      </dgm:prSet>
      <dgm:spPr/>
    </dgm:pt>
    <dgm:pt modelId="{65A5EF64-E8EF-4F6C-9117-3D816AFFDE4F}" type="pres">
      <dgm:prSet presAssocID="{7A4B9FE4-6D55-4298-B8D8-0693AED7D1E7}" presName="sibTrans" presStyleCnt="0"/>
      <dgm:spPr/>
    </dgm:pt>
    <dgm:pt modelId="{84AF125F-28B5-45AF-A3BE-EBD61CF8B938}" type="pres">
      <dgm:prSet presAssocID="{FEBED6D6-CD0B-4DD1-8EE8-D54763779595}" presName="compNode" presStyleCnt="0"/>
      <dgm:spPr/>
    </dgm:pt>
    <dgm:pt modelId="{B4B3A883-6521-42EC-9C72-FE5C02B790AC}" type="pres">
      <dgm:prSet presAssocID="{FEBED6D6-CD0B-4DD1-8EE8-D54763779595}" presName="bgRect" presStyleLbl="bgShp" presStyleIdx="1" presStyleCnt="2"/>
      <dgm:spPr/>
    </dgm:pt>
    <dgm:pt modelId="{A0C26E00-407E-4F8F-9AD0-DC2A69410F05}" type="pres">
      <dgm:prSet presAssocID="{FEBED6D6-CD0B-4DD1-8EE8-D5476377959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9CDC1CF2-5CA8-4F61-92DB-9AA47296CE80}" type="pres">
      <dgm:prSet presAssocID="{FEBED6D6-CD0B-4DD1-8EE8-D54763779595}" presName="spaceRect" presStyleCnt="0"/>
      <dgm:spPr/>
    </dgm:pt>
    <dgm:pt modelId="{F3E004C0-AD54-4D15-A884-B7C4B10B4646}" type="pres">
      <dgm:prSet presAssocID="{FEBED6D6-CD0B-4DD1-8EE8-D54763779595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534EA210-C2B0-4B41-B723-5B19A758B7CB}" type="presOf" srcId="{8F1641AD-3D24-49DD-AE7F-ACC6EED685A2}" destId="{ED38494F-1E2C-4B8B-9D93-7869FBDA510B}" srcOrd="0" destOrd="0" presId="urn:microsoft.com/office/officeart/2018/2/layout/IconVerticalSolidList"/>
    <dgm:cxn modelId="{77471867-9546-45FF-9097-BE3108B1FB74}" type="presOf" srcId="{6C0F6E19-6DE7-4115-9CE0-7BF46165BE79}" destId="{1799F8BE-7082-4D39-93AE-C88F9D4C0E61}" srcOrd="0" destOrd="0" presId="urn:microsoft.com/office/officeart/2018/2/layout/IconVerticalSolidList"/>
    <dgm:cxn modelId="{AF0BE573-F98B-489A-AC89-48F39BEF07D5}" srcId="{8F1641AD-3D24-49DD-AE7F-ACC6EED685A2}" destId="{FEBED6D6-CD0B-4DD1-8EE8-D54763779595}" srcOrd="1" destOrd="0" parTransId="{227FBC88-EADF-4FBE-AC0C-386DDEE80608}" sibTransId="{23B44FFF-793E-4CEF-804A-5CC10A05A4F0}"/>
    <dgm:cxn modelId="{9174CD9E-92A3-45A7-A813-8D79234AC2C7}" type="presOf" srcId="{FEBED6D6-CD0B-4DD1-8EE8-D54763779595}" destId="{F3E004C0-AD54-4D15-A884-B7C4B10B4646}" srcOrd="0" destOrd="0" presId="urn:microsoft.com/office/officeart/2018/2/layout/IconVerticalSolidList"/>
    <dgm:cxn modelId="{F9D1A2E1-536A-4102-8EA1-C6A6AD208FC0}" srcId="{8F1641AD-3D24-49DD-AE7F-ACC6EED685A2}" destId="{6C0F6E19-6DE7-4115-9CE0-7BF46165BE79}" srcOrd="0" destOrd="0" parTransId="{4AEAE753-FCFE-45D7-9E19-0F7FF3FD7A53}" sibTransId="{7A4B9FE4-6D55-4298-B8D8-0693AED7D1E7}"/>
    <dgm:cxn modelId="{974FD7DB-3F5D-4B45-8425-0499B4DAE10E}" type="presParOf" srcId="{ED38494F-1E2C-4B8B-9D93-7869FBDA510B}" destId="{F4676658-6521-4656-BA25-F4130CB30BB0}" srcOrd="0" destOrd="0" presId="urn:microsoft.com/office/officeart/2018/2/layout/IconVerticalSolidList"/>
    <dgm:cxn modelId="{2B2B8DB1-C564-46ED-B385-0EEE3294F69A}" type="presParOf" srcId="{F4676658-6521-4656-BA25-F4130CB30BB0}" destId="{DBF0CF0B-2740-41E4-A3E9-723C1FE4610F}" srcOrd="0" destOrd="0" presId="urn:microsoft.com/office/officeart/2018/2/layout/IconVerticalSolidList"/>
    <dgm:cxn modelId="{37EE241D-668E-4056-8471-99D0ABA7E75B}" type="presParOf" srcId="{F4676658-6521-4656-BA25-F4130CB30BB0}" destId="{D5131042-D66F-4BDE-A522-4607506BBEE6}" srcOrd="1" destOrd="0" presId="urn:microsoft.com/office/officeart/2018/2/layout/IconVerticalSolidList"/>
    <dgm:cxn modelId="{955D6D2B-645A-47E8-A441-624E1C2F1D7F}" type="presParOf" srcId="{F4676658-6521-4656-BA25-F4130CB30BB0}" destId="{EF8127D0-B253-4347-962D-43D39EA6A8F0}" srcOrd="2" destOrd="0" presId="urn:microsoft.com/office/officeart/2018/2/layout/IconVerticalSolidList"/>
    <dgm:cxn modelId="{20F9FE63-F0DA-489C-B4FA-EF8D4FEDF708}" type="presParOf" srcId="{F4676658-6521-4656-BA25-F4130CB30BB0}" destId="{1799F8BE-7082-4D39-93AE-C88F9D4C0E61}" srcOrd="3" destOrd="0" presId="urn:microsoft.com/office/officeart/2018/2/layout/IconVerticalSolidList"/>
    <dgm:cxn modelId="{2632E50A-6941-48D4-8242-DD98AE2730EB}" type="presParOf" srcId="{ED38494F-1E2C-4B8B-9D93-7869FBDA510B}" destId="{65A5EF64-E8EF-4F6C-9117-3D816AFFDE4F}" srcOrd="1" destOrd="0" presId="urn:microsoft.com/office/officeart/2018/2/layout/IconVerticalSolidList"/>
    <dgm:cxn modelId="{A6F602BA-DA94-49A2-98F3-C8D7E8A6DD4B}" type="presParOf" srcId="{ED38494F-1E2C-4B8B-9D93-7869FBDA510B}" destId="{84AF125F-28B5-45AF-A3BE-EBD61CF8B938}" srcOrd="2" destOrd="0" presId="urn:microsoft.com/office/officeart/2018/2/layout/IconVerticalSolidList"/>
    <dgm:cxn modelId="{5A5D067C-2341-4210-A6F1-AC588D3D5E1D}" type="presParOf" srcId="{84AF125F-28B5-45AF-A3BE-EBD61CF8B938}" destId="{B4B3A883-6521-42EC-9C72-FE5C02B790AC}" srcOrd="0" destOrd="0" presId="urn:microsoft.com/office/officeart/2018/2/layout/IconVerticalSolidList"/>
    <dgm:cxn modelId="{A50F1A81-3169-4AF5-A74B-CCF885290C84}" type="presParOf" srcId="{84AF125F-28B5-45AF-A3BE-EBD61CF8B938}" destId="{A0C26E00-407E-4F8F-9AD0-DC2A69410F05}" srcOrd="1" destOrd="0" presId="urn:microsoft.com/office/officeart/2018/2/layout/IconVerticalSolidList"/>
    <dgm:cxn modelId="{80E4ABC6-596A-40CE-9E78-6DA064B3D944}" type="presParOf" srcId="{84AF125F-28B5-45AF-A3BE-EBD61CF8B938}" destId="{9CDC1CF2-5CA8-4F61-92DB-9AA47296CE80}" srcOrd="2" destOrd="0" presId="urn:microsoft.com/office/officeart/2018/2/layout/IconVerticalSolidList"/>
    <dgm:cxn modelId="{86CA4DAF-069D-4AF8-8EC5-152EB20928B5}" type="presParOf" srcId="{84AF125F-28B5-45AF-A3BE-EBD61CF8B938}" destId="{F3E004C0-AD54-4D15-A884-B7C4B10B464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A327801-B2F0-4B69-B37B-9B44673F57A7}" type="doc">
      <dgm:prSet loTypeId="urn:microsoft.com/office/officeart/2005/8/layout/hChevron3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22851F44-ABAD-451C-A2BE-6DAD424F72AD}">
      <dgm:prSet/>
      <dgm:spPr/>
      <dgm:t>
        <a:bodyPr/>
        <a:lstStyle/>
        <a:p>
          <a:r>
            <a:rPr lang="en-US"/>
            <a:t>app</a:t>
          </a:r>
        </a:p>
      </dgm:t>
    </dgm:pt>
    <dgm:pt modelId="{B608A9DE-A408-4D34-9BB3-5337E0CE1979}" type="parTrans" cxnId="{34FF6506-C3B2-419F-8B1C-C9D3D7ADFF27}">
      <dgm:prSet/>
      <dgm:spPr/>
      <dgm:t>
        <a:bodyPr/>
        <a:lstStyle/>
        <a:p>
          <a:endParaRPr lang="en-US"/>
        </a:p>
      </dgm:t>
    </dgm:pt>
    <dgm:pt modelId="{0620B5A1-8AA6-4C17-8880-D2FF98CEA93A}" type="sibTrans" cxnId="{34FF6506-C3B2-419F-8B1C-C9D3D7ADFF27}">
      <dgm:prSet/>
      <dgm:spPr/>
      <dgm:t>
        <a:bodyPr/>
        <a:lstStyle/>
        <a:p>
          <a:endParaRPr lang="en-US"/>
        </a:p>
      </dgm:t>
    </dgm:pt>
    <dgm:pt modelId="{539EC032-8BE0-44FA-BCC1-1FEF57E80494}">
      <dgm:prSet/>
      <dgm:spPr/>
      <dgm:t>
        <a:bodyPr/>
        <a:lstStyle/>
        <a:p>
          <a:r>
            <a:rPr lang="en-US"/>
            <a:t>db</a:t>
          </a:r>
        </a:p>
      </dgm:t>
    </dgm:pt>
    <dgm:pt modelId="{A650FC90-2495-4A5F-B2A0-0B3564CA1DB6}" type="parTrans" cxnId="{D8269F91-C3D1-4FED-B0B1-CA2B8E9554E7}">
      <dgm:prSet/>
      <dgm:spPr/>
      <dgm:t>
        <a:bodyPr/>
        <a:lstStyle/>
        <a:p>
          <a:endParaRPr lang="en-US"/>
        </a:p>
      </dgm:t>
    </dgm:pt>
    <dgm:pt modelId="{45276A47-24F2-430E-9076-C9D9BFD23A37}" type="sibTrans" cxnId="{D8269F91-C3D1-4FED-B0B1-CA2B8E9554E7}">
      <dgm:prSet/>
      <dgm:spPr/>
      <dgm:t>
        <a:bodyPr/>
        <a:lstStyle/>
        <a:p>
          <a:endParaRPr lang="en-US"/>
        </a:p>
      </dgm:t>
    </dgm:pt>
    <dgm:pt modelId="{55122C4F-920A-408E-BDCF-88FB67670794}">
      <dgm:prSet/>
      <dgm:spPr/>
      <dgm:t>
        <a:bodyPr/>
        <a:lstStyle/>
        <a:p>
          <a:r>
            <a:rPr lang="en-US"/>
            <a:t>srv</a:t>
          </a:r>
        </a:p>
      </dgm:t>
    </dgm:pt>
    <dgm:pt modelId="{C3552436-2256-49F1-A3A4-F97D2A7D7CF5}" type="parTrans" cxnId="{A7FFFD7F-11A8-4BAB-A353-73D3042B892B}">
      <dgm:prSet/>
      <dgm:spPr/>
      <dgm:t>
        <a:bodyPr/>
        <a:lstStyle/>
        <a:p>
          <a:endParaRPr lang="en-US"/>
        </a:p>
      </dgm:t>
    </dgm:pt>
    <dgm:pt modelId="{374FBC2F-A7E5-437D-B3AD-E4307C3249DB}" type="sibTrans" cxnId="{A7FFFD7F-11A8-4BAB-A353-73D3042B892B}">
      <dgm:prSet/>
      <dgm:spPr/>
      <dgm:t>
        <a:bodyPr/>
        <a:lstStyle/>
        <a:p>
          <a:endParaRPr lang="en-US"/>
        </a:p>
      </dgm:t>
    </dgm:pt>
    <dgm:pt modelId="{3DDD8473-4BCC-481A-A021-594F266B1461}">
      <dgm:prSet/>
      <dgm:spPr/>
      <dgm:t>
        <a:bodyPr/>
        <a:lstStyle/>
        <a:p>
          <a:r>
            <a:rPr lang="en-US"/>
            <a:t>packagse.json</a:t>
          </a:r>
        </a:p>
      </dgm:t>
    </dgm:pt>
    <dgm:pt modelId="{9AAE34FF-886F-45D8-8C6B-3E034759446C}" type="parTrans" cxnId="{08C4C737-0D15-4444-B50C-683A65D016E3}">
      <dgm:prSet/>
      <dgm:spPr/>
      <dgm:t>
        <a:bodyPr/>
        <a:lstStyle/>
        <a:p>
          <a:endParaRPr lang="en-US"/>
        </a:p>
      </dgm:t>
    </dgm:pt>
    <dgm:pt modelId="{8F321D6B-98C7-4D1F-8CBF-D4369D9321E4}" type="sibTrans" cxnId="{08C4C737-0D15-4444-B50C-683A65D016E3}">
      <dgm:prSet/>
      <dgm:spPr/>
      <dgm:t>
        <a:bodyPr/>
        <a:lstStyle/>
        <a:p>
          <a:endParaRPr lang="en-US"/>
        </a:p>
      </dgm:t>
    </dgm:pt>
    <dgm:pt modelId="{01014CF4-6195-486C-BADA-A0F685AA374A}" type="pres">
      <dgm:prSet presAssocID="{DA327801-B2F0-4B69-B37B-9B44673F57A7}" presName="Name0" presStyleCnt="0">
        <dgm:presLayoutVars>
          <dgm:dir/>
          <dgm:resizeHandles val="exact"/>
        </dgm:presLayoutVars>
      </dgm:prSet>
      <dgm:spPr/>
    </dgm:pt>
    <dgm:pt modelId="{85D595FD-8DE0-4EF2-8466-0AE63EBA5D7A}" type="pres">
      <dgm:prSet presAssocID="{22851F44-ABAD-451C-A2BE-6DAD424F72AD}" presName="parTxOnly" presStyleLbl="node1" presStyleIdx="0" presStyleCnt="4">
        <dgm:presLayoutVars>
          <dgm:bulletEnabled val="1"/>
        </dgm:presLayoutVars>
      </dgm:prSet>
      <dgm:spPr/>
    </dgm:pt>
    <dgm:pt modelId="{C1DA355E-AC24-4254-ABC1-994197BA23C2}" type="pres">
      <dgm:prSet presAssocID="{0620B5A1-8AA6-4C17-8880-D2FF98CEA93A}" presName="parSpace" presStyleCnt="0"/>
      <dgm:spPr/>
    </dgm:pt>
    <dgm:pt modelId="{4B52AF6D-0B18-47CB-9169-D57FF78B69F0}" type="pres">
      <dgm:prSet presAssocID="{539EC032-8BE0-44FA-BCC1-1FEF57E80494}" presName="parTxOnly" presStyleLbl="node1" presStyleIdx="1" presStyleCnt="4">
        <dgm:presLayoutVars>
          <dgm:bulletEnabled val="1"/>
        </dgm:presLayoutVars>
      </dgm:prSet>
      <dgm:spPr/>
    </dgm:pt>
    <dgm:pt modelId="{797AF0CF-6044-4942-90B8-E27FD6B901E0}" type="pres">
      <dgm:prSet presAssocID="{45276A47-24F2-430E-9076-C9D9BFD23A37}" presName="parSpace" presStyleCnt="0"/>
      <dgm:spPr/>
    </dgm:pt>
    <dgm:pt modelId="{9FADA234-2674-40A6-BF7E-BDEF475EE797}" type="pres">
      <dgm:prSet presAssocID="{55122C4F-920A-408E-BDCF-88FB67670794}" presName="parTxOnly" presStyleLbl="node1" presStyleIdx="2" presStyleCnt="4">
        <dgm:presLayoutVars>
          <dgm:bulletEnabled val="1"/>
        </dgm:presLayoutVars>
      </dgm:prSet>
      <dgm:spPr/>
    </dgm:pt>
    <dgm:pt modelId="{03D7D7E3-58C9-4618-B892-F1A278463B20}" type="pres">
      <dgm:prSet presAssocID="{374FBC2F-A7E5-437D-B3AD-E4307C3249DB}" presName="parSpace" presStyleCnt="0"/>
      <dgm:spPr/>
    </dgm:pt>
    <dgm:pt modelId="{A5D8406F-B53B-46ED-8A4F-AB186B6071B9}" type="pres">
      <dgm:prSet presAssocID="{3DDD8473-4BCC-481A-A021-594F266B1461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FF6506-C3B2-419F-8B1C-C9D3D7ADFF27}" srcId="{DA327801-B2F0-4B69-B37B-9B44673F57A7}" destId="{22851F44-ABAD-451C-A2BE-6DAD424F72AD}" srcOrd="0" destOrd="0" parTransId="{B608A9DE-A408-4D34-9BB3-5337E0CE1979}" sibTransId="{0620B5A1-8AA6-4C17-8880-D2FF98CEA93A}"/>
    <dgm:cxn modelId="{838A391A-4953-4617-9589-00D3809F9E94}" type="presOf" srcId="{539EC032-8BE0-44FA-BCC1-1FEF57E80494}" destId="{4B52AF6D-0B18-47CB-9169-D57FF78B69F0}" srcOrd="0" destOrd="0" presId="urn:microsoft.com/office/officeart/2005/8/layout/hChevron3"/>
    <dgm:cxn modelId="{989B8520-1220-4BD3-9BC0-5FF08A54C05B}" type="presOf" srcId="{3DDD8473-4BCC-481A-A021-594F266B1461}" destId="{A5D8406F-B53B-46ED-8A4F-AB186B6071B9}" srcOrd="0" destOrd="0" presId="urn:microsoft.com/office/officeart/2005/8/layout/hChevron3"/>
    <dgm:cxn modelId="{08C4C737-0D15-4444-B50C-683A65D016E3}" srcId="{DA327801-B2F0-4B69-B37B-9B44673F57A7}" destId="{3DDD8473-4BCC-481A-A021-594F266B1461}" srcOrd="3" destOrd="0" parTransId="{9AAE34FF-886F-45D8-8C6B-3E034759446C}" sibTransId="{8F321D6B-98C7-4D1F-8CBF-D4369D9321E4}"/>
    <dgm:cxn modelId="{A67AA15F-507F-4219-B2EA-F88DB410DC82}" type="presOf" srcId="{55122C4F-920A-408E-BDCF-88FB67670794}" destId="{9FADA234-2674-40A6-BF7E-BDEF475EE797}" srcOrd="0" destOrd="0" presId="urn:microsoft.com/office/officeart/2005/8/layout/hChevron3"/>
    <dgm:cxn modelId="{48368349-2432-4AAE-93A9-F99789D551D7}" type="presOf" srcId="{DA327801-B2F0-4B69-B37B-9B44673F57A7}" destId="{01014CF4-6195-486C-BADA-A0F685AA374A}" srcOrd="0" destOrd="0" presId="urn:microsoft.com/office/officeart/2005/8/layout/hChevron3"/>
    <dgm:cxn modelId="{A7FFFD7F-11A8-4BAB-A353-73D3042B892B}" srcId="{DA327801-B2F0-4B69-B37B-9B44673F57A7}" destId="{55122C4F-920A-408E-BDCF-88FB67670794}" srcOrd="2" destOrd="0" parTransId="{C3552436-2256-49F1-A3A4-F97D2A7D7CF5}" sibTransId="{374FBC2F-A7E5-437D-B3AD-E4307C3249DB}"/>
    <dgm:cxn modelId="{D8269F91-C3D1-4FED-B0B1-CA2B8E9554E7}" srcId="{DA327801-B2F0-4B69-B37B-9B44673F57A7}" destId="{539EC032-8BE0-44FA-BCC1-1FEF57E80494}" srcOrd="1" destOrd="0" parTransId="{A650FC90-2495-4A5F-B2A0-0B3564CA1DB6}" sibTransId="{45276A47-24F2-430E-9076-C9D9BFD23A37}"/>
    <dgm:cxn modelId="{51ADEC91-1CC7-40F2-9EC0-5C7848E3BC2C}" type="presOf" srcId="{22851F44-ABAD-451C-A2BE-6DAD424F72AD}" destId="{85D595FD-8DE0-4EF2-8466-0AE63EBA5D7A}" srcOrd="0" destOrd="0" presId="urn:microsoft.com/office/officeart/2005/8/layout/hChevron3"/>
    <dgm:cxn modelId="{0B94231E-8BD1-447E-984C-48535E57BF00}" type="presParOf" srcId="{01014CF4-6195-486C-BADA-A0F685AA374A}" destId="{85D595FD-8DE0-4EF2-8466-0AE63EBA5D7A}" srcOrd="0" destOrd="0" presId="urn:microsoft.com/office/officeart/2005/8/layout/hChevron3"/>
    <dgm:cxn modelId="{927B8A65-0914-4D3E-A095-50E009AA4510}" type="presParOf" srcId="{01014CF4-6195-486C-BADA-A0F685AA374A}" destId="{C1DA355E-AC24-4254-ABC1-994197BA23C2}" srcOrd="1" destOrd="0" presId="urn:microsoft.com/office/officeart/2005/8/layout/hChevron3"/>
    <dgm:cxn modelId="{C98CFF46-490B-4FBB-AFE4-05C280540E23}" type="presParOf" srcId="{01014CF4-6195-486C-BADA-A0F685AA374A}" destId="{4B52AF6D-0B18-47CB-9169-D57FF78B69F0}" srcOrd="2" destOrd="0" presId="urn:microsoft.com/office/officeart/2005/8/layout/hChevron3"/>
    <dgm:cxn modelId="{E9ADCD85-0745-4ABB-BD10-14EA18634ED1}" type="presParOf" srcId="{01014CF4-6195-486C-BADA-A0F685AA374A}" destId="{797AF0CF-6044-4942-90B8-E27FD6B901E0}" srcOrd="3" destOrd="0" presId="urn:microsoft.com/office/officeart/2005/8/layout/hChevron3"/>
    <dgm:cxn modelId="{AF6C26B7-EF61-4A09-B6C1-8B5234869D8C}" type="presParOf" srcId="{01014CF4-6195-486C-BADA-A0F685AA374A}" destId="{9FADA234-2674-40A6-BF7E-BDEF475EE797}" srcOrd="4" destOrd="0" presId="urn:microsoft.com/office/officeart/2005/8/layout/hChevron3"/>
    <dgm:cxn modelId="{0317C8BD-DCFD-48C0-8D9F-22A74E61D173}" type="presParOf" srcId="{01014CF4-6195-486C-BADA-A0F685AA374A}" destId="{03D7D7E3-58C9-4618-B892-F1A278463B20}" srcOrd="5" destOrd="0" presId="urn:microsoft.com/office/officeart/2005/8/layout/hChevron3"/>
    <dgm:cxn modelId="{C7C3C11A-1CA4-46D7-8778-8BDDBE77DA63}" type="presParOf" srcId="{01014CF4-6195-486C-BADA-A0F685AA374A}" destId="{A5D8406F-B53B-46ED-8A4F-AB186B6071B9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F0CF0B-2740-41E4-A3E9-723C1FE4610F}">
      <dsp:nvSpPr>
        <dsp:cNvPr id="0" name=""/>
        <dsp:cNvSpPr/>
      </dsp:nvSpPr>
      <dsp:spPr>
        <a:xfrm>
          <a:off x="0" y="707092"/>
          <a:ext cx="11215234" cy="130540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131042-D66F-4BDE-A522-4607506BBEE6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99F8BE-7082-4D39-93AE-C88F9D4C0E61}">
      <dsp:nvSpPr>
        <dsp:cNvPr id="0" name=""/>
        <dsp:cNvSpPr/>
      </dsp:nvSpPr>
      <dsp:spPr>
        <a:xfrm>
          <a:off x="1507738" y="707092"/>
          <a:ext cx="9707496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Cloud Application Programming Model (CAPM)</a:t>
          </a:r>
        </a:p>
      </dsp:txBody>
      <dsp:txXfrm>
        <a:off x="1507738" y="707092"/>
        <a:ext cx="9707496" cy="1305401"/>
      </dsp:txXfrm>
    </dsp:sp>
    <dsp:sp modelId="{B4B3A883-6521-42EC-9C72-FE5C02B790AC}">
      <dsp:nvSpPr>
        <dsp:cNvPr id="0" name=""/>
        <dsp:cNvSpPr/>
      </dsp:nvSpPr>
      <dsp:spPr>
        <a:xfrm>
          <a:off x="0" y="2338844"/>
          <a:ext cx="11215234" cy="130540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C26E00-407E-4F8F-9AD0-DC2A69410F05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E004C0-AD54-4D15-A884-B7C4B10B4646}">
      <dsp:nvSpPr>
        <dsp:cNvPr id="0" name=""/>
        <dsp:cNvSpPr/>
      </dsp:nvSpPr>
      <dsp:spPr>
        <a:xfrm>
          <a:off x="1507738" y="2338844"/>
          <a:ext cx="9707496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SAP’s framework for building cloud-native enterprise apps and services on SAP BTP.</a:t>
          </a:r>
        </a:p>
      </dsp:txBody>
      <dsp:txXfrm>
        <a:off x="1507738" y="2338844"/>
        <a:ext cx="9707496" cy="1305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D595FD-8DE0-4EF2-8466-0AE63EBA5D7A}">
      <dsp:nvSpPr>
        <dsp:cNvPr id="0" name=""/>
        <dsp:cNvSpPr/>
      </dsp:nvSpPr>
      <dsp:spPr>
        <a:xfrm>
          <a:off x="3285" y="1516335"/>
          <a:ext cx="3296665" cy="1318666"/>
        </a:xfrm>
        <a:prstGeom prst="homePlat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7348" tIns="58674" rIns="29337" bIns="5867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app</a:t>
          </a:r>
        </a:p>
      </dsp:txBody>
      <dsp:txXfrm>
        <a:off x="3285" y="1516335"/>
        <a:ext cx="2966999" cy="1318666"/>
      </dsp:txXfrm>
    </dsp:sp>
    <dsp:sp modelId="{4B52AF6D-0B18-47CB-9169-D57FF78B69F0}">
      <dsp:nvSpPr>
        <dsp:cNvPr id="0" name=""/>
        <dsp:cNvSpPr/>
      </dsp:nvSpPr>
      <dsp:spPr>
        <a:xfrm>
          <a:off x="2640618" y="1516335"/>
          <a:ext cx="3296665" cy="131866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011" tIns="58674" rIns="29337" bIns="5867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db</a:t>
          </a:r>
        </a:p>
      </dsp:txBody>
      <dsp:txXfrm>
        <a:off x="3299951" y="1516335"/>
        <a:ext cx="1977999" cy="1318666"/>
      </dsp:txXfrm>
    </dsp:sp>
    <dsp:sp modelId="{9FADA234-2674-40A6-BF7E-BDEF475EE797}">
      <dsp:nvSpPr>
        <dsp:cNvPr id="0" name=""/>
        <dsp:cNvSpPr/>
      </dsp:nvSpPr>
      <dsp:spPr>
        <a:xfrm>
          <a:off x="5277950" y="1516335"/>
          <a:ext cx="3296665" cy="131866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011" tIns="58674" rIns="29337" bIns="5867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srv</a:t>
          </a:r>
        </a:p>
      </dsp:txBody>
      <dsp:txXfrm>
        <a:off x="5937283" y="1516335"/>
        <a:ext cx="1977999" cy="1318666"/>
      </dsp:txXfrm>
    </dsp:sp>
    <dsp:sp modelId="{A5D8406F-B53B-46ED-8A4F-AB186B6071B9}">
      <dsp:nvSpPr>
        <dsp:cNvPr id="0" name=""/>
        <dsp:cNvSpPr/>
      </dsp:nvSpPr>
      <dsp:spPr>
        <a:xfrm>
          <a:off x="7915283" y="1516335"/>
          <a:ext cx="3296665" cy="131866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8011" tIns="58674" rIns="29337" bIns="5867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packagse.json</a:t>
          </a:r>
        </a:p>
      </dsp:txBody>
      <dsp:txXfrm>
        <a:off x="8574616" y="1516335"/>
        <a:ext cx="1977999" cy="13186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4/14/2026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4/14/2026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72324" y="3785616"/>
            <a:ext cx="7077456" cy="1243584"/>
          </a:xfrm>
        </p:spPr>
        <p:txBody>
          <a:bodyPr/>
          <a:lstStyle/>
          <a:p>
            <a:pPr algn="ctr"/>
            <a:r>
              <a:rPr lang="en-US" dirty="0"/>
              <a:t>SAP Cloud Application Programming Model</a:t>
            </a: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7AF04F-3DBC-732A-6A90-81FE8074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5BA42A-86CD-FDB3-1E5B-A112B6A21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Overview of CAPM</a:t>
            </a:r>
          </a:p>
        </p:txBody>
      </p:sp>
    </p:spTree>
    <p:extLst>
      <p:ext uri="{BB962C8B-B14F-4D97-AF65-F5344CB8AC3E}">
        <p14:creationId xmlns:p14="http://schemas.microsoft.com/office/powerpoint/2010/main" val="211229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875C19A-1AAE-476A-A316-A2CF92D7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What is CAPM 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800F6-D571-48C4-8466-12AA1ADB6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graphicFrame>
        <p:nvGraphicFramePr>
          <p:cNvPr id="12" name="Text Placeholder 9">
            <a:extLst>
              <a:ext uri="{FF2B5EF4-FFF2-40B4-BE49-F238E27FC236}">
                <a16:creationId xmlns:a16="http://schemas.microsoft.com/office/drawing/2014/main" id="{FB04CDCD-CCE1-FF52-03CE-C89FEE36F3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3462744"/>
              </p:ext>
            </p:extLst>
          </p:nvPr>
        </p:nvGraphicFramePr>
        <p:xfrm>
          <a:off x="443365" y="1825625"/>
          <a:ext cx="1121523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348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76DAA-8862-DCDD-B309-67FFA4F00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A62EE1C-739C-C997-FE0F-89716661F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Why do we need CAP 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26436B-28C3-3374-501C-68D52D20B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99400FF-368A-06E3-1D3A-75A31D616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/>
              <a:t>Traditional enterprise development takes time because we repeatedly build:</a:t>
            </a:r>
          </a:p>
          <a:p>
            <a:pPr lvl="1"/>
            <a:r>
              <a:rPr lang="en-US" sz="2600"/>
              <a:t>database layer </a:t>
            </a:r>
          </a:p>
          <a:p>
            <a:pPr lvl="1"/>
            <a:r>
              <a:rPr lang="en-US" sz="2600"/>
              <a:t>service layer </a:t>
            </a:r>
          </a:p>
          <a:p>
            <a:pPr lvl="1"/>
            <a:r>
              <a:rPr lang="en-US" sz="2600"/>
              <a:t>authentication </a:t>
            </a:r>
          </a:p>
          <a:p>
            <a:pPr lvl="1"/>
            <a:r>
              <a:rPr lang="en-US" sz="2600"/>
              <a:t>validation </a:t>
            </a:r>
          </a:p>
          <a:p>
            <a:pPr lvl="1"/>
            <a:r>
              <a:rPr lang="en-US" sz="2600"/>
              <a:t>OData exposure </a:t>
            </a:r>
          </a:p>
          <a:p>
            <a:pPr lvl="1"/>
            <a:r>
              <a:rPr lang="en-US" sz="2600"/>
              <a:t>deployment config </a:t>
            </a:r>
          </a:p>
          <a:p>
            <a:pPr marL="0" indent="0">
              <a:buNone/>
            </a:pPr>
            <a:endParaRPr lang="en-US" sz="2600"/>
          </a:p>
          <a:p>
            <a:pPr marL="0" indent="0">
              <a:buNone/>
            </a:pPr>
            <a:r>
              <a:rPr lang="en-US" sz="2600"/>
              <a:t>CAP gives these out of the box.</a:t>
            </a:r>
          </a:p>
          <a:p>
            <a:endParaRPr lang="en-US" sz="2600"/>
          </a:p>
        </p:txBody>
      </p:sp>
    </p:spTree>
    <p:extLst>
      <p:ext uri="{BB962C8B-B14F-4D97-AF65-F5344CB8AC3E}">
        <p14:creationId xmlns:p14="http://schemas.microsoft.com/office/powerpoint/2010/main" val="987404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6A58-71BE-1151-0AD0-33940B488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FDF60A-6A85-4B5B-0BD6-0C21401BD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Key Features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8B9DD0-06D6-82D2-025E-F4E6E4F7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C6A1DDC-34F2-9607-7CF9-BB89B39A6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>
            <a:normAutofit/>
          </a:bodyPr>
          <a:lstStyle/>
          <a:p>
            <a:r>
              <a:rPr lang="en-US" sz="2600" dirty="0"/>
              <a:t>Model – driven development</a:t>
            </a:r>
          </a:p>
          <a:p>
            <a:r>
              <a:rPr lang="en-US" sz="2600" dirty="0"/>
              <a:t>Service-oriented</a:t>
            </a:r>
          </a:p>
          <a:p>
            <a:r>
              <a:rPr lang="en-US" sz="2600" dirty="0"/>
              <a:t>Cloud native</a:t>
            </a:r>
          </a:p>
          <a:p>
            <a:r>
              <a:rPr lang="en-US" sz="2600" dirty="0"/>
              <a:t>Open standards</a:t>
            </a:r>
          </a:p>
          <a:p>
            <a:r>
              <a:rPr lang="en-US" sz="2600" dirty="0"/>
              <a:t>Multiple runtimes</a:t>
            </a:r>
          </a:p>
        </p:txBody>
      </p:sp>
    </p:spTree>
    <p:extLst>
      <p:ext uri="{BB962C8B-B14F-4D97-AF65-F5344CB8AC3E}">
        <p14:creationId xmlns:p14="http://schemas.microsoft.com/office/powerpoint/2010/main" val="3886968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2A3C0-BDA5-060B-9E96-568213E0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9DE469-BD6F-064F-5918-65DA80695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Best use cases of CAP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D4E3F3-83DB-75C1-1C42-75379EDD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768BBF-35A1-276A-822D-9F0A8ED99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>
            <a:normAutofit/>
          </a:bodyPr>
          <a:lstStyle/>
          <a:p>
            <a:r>
              <a:rPr lang="en-US" sz="2600" dirty="0"/>
              <a:t>Supplier portal</a:t>
            </a:r>
          </a:p>
          <a:p>
            <a:r>
              <a:rPr lang="en-US" sz="2600" dirty="0"/>
              <a:t>Approval workflows</a:t>
            </a:r>
          </a:p>
          <a:p>
            <a:r>
              <a:rPr lang="en-US" sz="2600" dirty="0"/>
              <a:t>Procurement cockpit</a:t>
            </a:r>
          </a:p>
          <a:p>
            <a:r>
              <a:rPr lang="en-US" sz="2600" dirty="0"/>
              <a:t>Vendor onboarding</a:t>
            </a:r>
          </a:p>
          <a:p>
            <a:r>
              <a:rPr lang="en-US" sz="2600" dirty="0"/>
              <a:t>API orchestration layer</a:t>
            </a:r>
          </a:p>
          <a:p>
            <a:r>
              <a:rPr lang="en-US" sz="2600" dirty="0"/>
              <a:t>S4 extensions</a:t>
            </a:r>
          </a:p>
          <a:p>
            <a:r>
              <a:rPr lang="en-US" sz="2600" dirty="0"/>
              <a:t>Side-by-side apps</a:t>
            </a:r>
          </a:p>
        </p:txBody>
      </p:sp>
    </p:spTree>
    <p:extLst>
      <p:ext uri="{BB962C8B-B14F-4D97-AF65-F5344CB8AC3E}">
        <p14:creationId xmlns:p14="http://schemas.microsoft.com/office/powerpoint/2010/main" val="4026739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0643-378B-7D68-0B19-7DC92DCD4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CAP Infrastructure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E8B373-A557-CF71-9A75-D57901C6C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7</a:t>
            </a:fld>
            <a:endParaRPr lang="en-US" noProof="0" dirty="0"/>
          </a:p>
        </p:txBody>
      </p:sp>
      <p:pic>
        <p:nvPicPr>
          <p:cNvPr id="6" name="Content Placeholder 5" descr="A screenshot of a computer">
            <a:extLst>
              <a:ext uri="{FF2B5EF4-FFF2-40B4-BE49-F238E27FC236}">
                <a16:creationId xmlns:a16="http://schemas.microsoft.com/office/drawing/2014/main" id="{D4AB5221-B45B-8A1A-9A3C-F674D06337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0825" y="1188588"/>
            <a:ext cx="9401449" cy="4988644"/>
          </a:xfrm>
        </p:spPr>
      </p:pic>
    </p:spTree>
    <p:extLst>
      <p:ext uri="{BB962C8B-B14F-4D97-AF65-F5344CB8AC3E}">
        <p14:creationId xmlns:p14="http://schemas.microsoft.com/office/powerpoint/2010/main" val="3752678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E43CB-8D3B-255B-BC13-7AB946734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6AD79C9-E6EE-4FB3-F475-54029211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BAS (Business Application Studio)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BB79E1-877B-DCC5-94E7-F022723E1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6A59C0-B9A8-C80F-C92C-2817CB98D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5098453" cy="435133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IN" sz="1700" dirty="0"/>
              <a:t>Browser based development environment</a:t>
            </a:r>
          </a:p>
          <a:p>
            <a:pPr>
              <a:lnSpc>
                <a:spcPct val="110000"/>
              </a:lnSpc>
            </a:pPr>
            <a:r>
              <a:rPr lang="en-IN" sz="1700" dirty="0"/>
              <a:t>Private Virtual Machine in Cloud</a:t>
            </a:r>
          </a:p>
          <a:p>
            <a:pPr>
              <a:lnSpc>
                <a:spcPct val="110000"/>
              </a:lnSpc>
            </a:pPr>
            <a:r>
              <a:rPr lang="en-IN" sz="1700" dirty="0"/>
              <a:t>VS Code Compatible Experience</a:t>
            </a:r>
          </a:p>
          <a:p>
            <a:pPr>
              <a:lnSpc>
                <a:spcPct val="110000"/>
              </a:lnSpc>
            </a:pPr>
            <a:r>
              <a:rPr lang="en-IN" sz="1700" dirty="0"/>
              <a:t>Optimized for : 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IN" sz="1700" dirty="0"/>
              <a:t>SAP UI5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IN" sz="1700" dirty="0"/>
              <a:t>Fiori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IN" sz="1700" dirty="0"/>
              <a:t>CAP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q"/>
            </a:pPr>
            <a:r>
              <a:rPr lang="en-IN" sz="1700" dirty="0"/>
              <a:t>SAP BTP Development</a:t>
            </a:r>
          </a:p>
          <a:p>
            <a:pPr marL="0" indent="0">
              <a:buNone/>
            </a:pPr>
            <a:endParaRPr lang="en-US" sz="2600" dirty="0"/>
          </a:p>
        </p:txBody>
      </p:sp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40BA1113-6C1B-B08C-0CDF-C9E2BEC76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136" y="2049008"/>
            <a:ext cx="6381464" cy="275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0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E4E9-FBD0-7033-9FF8-5FD5E720F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IN" dirty="0"/>
              <a:t>DEV Spaces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64AA68-EE84-60CA-4080-408B5C36B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noProof="0" smtClean="0"/>
              <a:pPr>
                <a:spcAft>
                  <a:spcPts val="600"/>
                </a:spcAft>
              </a:pPr>
              <a:t>9</a:t>
            </a:fld>
            <a:endParaRPr lang="en-US" noProof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C3CEDB4E-8B44-D428-3306-49E1F2C00C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/>
          <a:p>
            <a:r>
              <a:rPr lang="en-IN" sz="2900" dirty="0"/>
              <a:t>SAP Fiori Dev Space</a:t>
            </a:r>
          </a:p>
          <a:p>
            <a:r>
              <a:rPr lang="en-US" sz="2900" dirty="0"/>
              <a:t>Full Stack Cloud Application Dev Space</a:t>
            </a:r>
          </a:p>
          <a:p>
            <a:r>
              <a:rPr lang="en-US" sz="2900" dirty="0"/>
              <a:t>Full Stack Application Using Productivity Tools</a:t>
            </a:r>
          </a:p>
          <a:p>
            <a:r>
              <a:rPr lang="en-IN" sz="2900" dirty="0"/>
              <a:t>SAP HANA Native Application</a:t>
            </a:r>
          </a:p>
          <a:p>
            <a:r>
              <a:rPr lang="en-IN" sz="2900" dirty="0"/>
              <a:t>SAP Mobile Application Dev Space</a:t>
            </a:r>
          </a:p>
          <a:p>
            <a:r>
              <a:rPr lang="en-IN" sz="2900" dirty="0"/>
              <a:t>Full Stack ABAP Application Dev Space</a:t>
            </a:r>
          </a:p>
        </p:txBody>
      </p:sp>
    </p:spTree>
    <p:extLst>
      <p:ext uri="{BB962C8B-B14F-4D97-AF65-F5344CB8AC3E}">
        <p14:creationId xmlns:p14="http://schemas.microsoft.com/office/powerpoint/2010/main" val="347318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11F20-E954-5E0F-0A52-DEEB149DF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605722F-6EB1-EA30-9871-62A7CD67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IN" dirty="0"/>
              <a:t>Creation of the first project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6FB888-4B36-38D8-229A-2F13D8CE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  <p:graphicFrame>
        <p:nvGraphicFramePr>
          <p:cNvPr id="12" name="Text Placeholder 9">
            <a:extLst>
              <a:ext uri="{FF2B5EF4-FFF2-40B4-BE49-F238E27FC236}">
                <a16:creationId xmlns:a16="http://schemas.microsoft.com/office/drawing/2014/main" id="{EB760C11-49C2-8A87-40EA-A3B1290048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9722087"/>
              </p:ext>
            </p:extLst>
          </p:nvPr>
        </p:nvGraphicFramePr>
        <p:xfrm>
          <a:off x="443365" y="1825625"/>
          <a:ext cx="11215235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7929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956CE-AF27-9DED-981D-2EA40D114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CDS Umbrella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EAA71-C2EA-0E46-171F-08C3F76F1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11</a:t>
            </a:fld>
            <a:endParaRPr lang="en-US" noProof="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A2B6227-B82C-A1B7-640E-8078DB614D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4500" y="1660891"/>
            <a:ext cx="4908755" cy="4271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EF1F3E-BA80-A26C-CAE7-5FA56D607B6F}"/>
              </a:ext>
            </a:extLst>
          </p:cNvPr>
          <p:cNvSpPr txBox="1"/>
          <p:nvPr/>
        </p:nvSpPr>
        <p:spPr>
          <a:xfrm>
            <a:off x="5914103" y="1660891"/>
            <a:ext cx="58333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CDS (umbrella concept)</a:t>
            </a:r>
          </a:p>
          <a:p>
            <a:r>
              <a:rPr lang="en-IN" dirty="0">
                <a:solidFill>
                  <a:schemeClr val="bg1"/>
                </a:solidFill>
              </a:rPr>
              <a:t>│</a:t>
            </a:r>
          </a:p>
          <a:p>
            <a:r>
              <a:rPr lang="en-IN" dirty="0">
                <a:solidFill>
                  <a:schemeClr val="bg1"/>
                </a:solidFill>
              </a:rPr>
              <a:t>├── CDL  → model definition language (.</a:t>
            </a:r>
            <a:r>
              <a:rPr lang="en-IN" dirty="0" err="1">
                <a:solidFill>
                  <a:schemeClr val="bg1"/>
                </a:solidFill>
              </a:rPr>
              <a:t>cds</a:t>
            </a:r>
            <a:r>
              <a:rPr lang="en-IN" dirty="0">
                <a:solidFill>
                  <a:schemeClr val="bg1"/>
                </a:solidFill>
              </a:rPr>
              <a:t> files)</a:t>
            </a:r>
          </a:p>
          <a:p>
            <a:r>
              <a:rPr lang="en-IN" dirty="0">
                <a:solidFill>
                  <a:schemeClr val="bg1"/>
                </a:solidFill>
              </a:rPr>
              <a:t>│        → entities, services, annotations</a:t>
            </a:r>
          </a:p>
          <a:p>
            <a:r>
              <a:rPr lang="en-IN" dirty="0">
                <a:solidFill>
                  <a:schemeClr val="bg1"/>
                </a:solidFill>
              </a:rPr>
              <a:t>│</a:t>
            </a:r>
          </a:p>
          <a:p>
            <a:r>
              <a:rPr lang="en-IN" dirty="0">
                <a:solidFill>
                  <a:schemeClr val="bg1"/>
                </a:solidFill>
              </a:rPr>
              <a:t>├── CSN  → compiled JSON model</a:t>
            </a:r>
          </a:p>
          <a:p>
            <a:r>
              <a:rPr lang="en-IN" dirty="0">
                <a:solidFill>
                  <a:schemeClr val="bg1"/>
                </a:solidFill>
              </a:rPr>
              <a:t>│        → machine readable</a:t>
            </a:r>
          </a:p>
          <a:p>
            <a:r>
              <a:rPr lang="en-IN" dirty="0">
                <a:solidFill>
                  <a:schemeClr val="bg1"/>
                </a:solidFill>
              </a:rPr>
              <a:t>│</a:t>
            </a:r>
          </a:p>
          <a:p>
            <a:r>
              <a:rPr lang="en-IN" dirty="0">
                <a:solidFill>
                  <a:schemeClr val="bg1"/>
                </a:solidFill>
              </a:rPr>
              <a:t>├── CQL  → query language</a:t>
            </a:r>
          </a:p>
          <a:p>
            <a:r>
              <a:rPr lang="en-IN" dirty="0">
                <a:solidFill>
                  <a:schemeClr val="bg1"/>
                </a:solidFill>
              </a:rPr>
              <a:t>│        → SQL-like query syntax</a:t>
            </a:r>
          </a:p>
          <a:p>
            <a:r>
              <a:rPr lang="en-IN" dirty="0">
                <a:solidFill>
                  <a:schemeClr val="bg1"/>
                </a:solidFill>
              </a:rPr>
              <a:t>│</a:t>
            </a:r>
          </a:p>
          <a:p>
            <a:r>
              <a:rPr lang="en-IN" dirty="0">
                <a:solidFill>
                  <a:schemeClr val="bg1"/>
                </a:solidFill>
              </a:rPr>
              <a:t>└── </a:t>
            </a:r>
            <a:r>
              <a:rPr lang="en-IN" dirty="0" err="1">
                <a:solidFill>
                  <a:schemeClr val="bg1"/>
                </a:solidFill>
              </a:rPr>
              <a:t>cds.ql</a:t>
            </a:r>
            <a:r>
              <a:rPr lang="en-IN" dirty="0">
                <a:solidFill>
                  <a:schemeClr val="bg1"/>
                </a:solidFill>
              </a:rPr>
              <a:t> → JavaScript query builder API</a:t>
            </a:r>
          </a:p>
          <a:p>
            <a:r>
              <a:rPr lang="en-IN" dirty="0">
                <a:solidFill>
                  <a:schemeClr val="bg1"/>
                </a:solidFill>
              </a:rPr>
              <a:t>          → creates CQN internally</a:t>
            </a:r>
          </a:p>
        </p:txBody>
      </p:sp>
    </p:spTree>
    <p:extLst>
      <p:ext uri="{BB962C8B-B14F-4D97-AF65-F5344CB8AC3E}">
        <p14:creationId xmlns:p14="http://schemas.microsoft.com/office/powerpoint/2010/main" val="3751667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234D-39A4-BC40-2C77-AA1ACBF5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C29756-E90F-9685-C8B0-BDBDE0BFF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4D57D2-72B9-FDAD-F891-A805C869E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2684607"/>
            <a:ext cx="1121523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600" dirty="0"/>
              <a:t>Domain Models</a:t>
            </a:r>
          </a:p>
        </p:txBody>
      </p:sp>
    </p:spTree>
    <p:extLst>
      <p:ext uri="{BB962C8B-B14F-4D97-AF65-F5344CB8AC3E}">
        <p14:creationId xmlns:p14="http://schemas.microsoft.com/office/powerpoint/2010/main" val="695751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9413D-49D5-D8A1-4B1D-6A46D4C9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5561AC-1AB3-6977-115D-0B8F6D348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97836-E1B8-3BCC-E8D3-0DD4CC2CB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2684607"/>
            <a:ext cx="1121523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600" dirty="0"/>
              <a:t>Service Models</a:t>
            </a:r>
          </a:p>
        </p:txBody>
      </p:sp>
    </p:spTree>
    <p:extLst>
      <p:ext uri="{BB962C8B-B14F-4D97-AF65-F5344CB8AC3E}">
        <p14:creationId xmlns:p14="http://schemas.microsoft.com/office/powerpoint/2010/main" val="2721476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51B4F-77DB-6A26-044E-DEA64F28C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8B8B6E-B5D1-FE83-BBBF-7901635E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9DEE83-9FA9-CCB7-448B-99E41EE12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2684607"/>
            <a:ext cx="1121523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6600" dirty="0"/>
              <a:t>Databases</a:t>
            </a:r>
          </a:p>
        </p:txBody>
      </p:sp>
    </p:spTree>
    <p:extLst>
      <p:ext uri="{BB962C8B-B14F-4D97-AF65-F5344CB8AC3E}">
        <p14:creationId xmlns:p14="http://schemas.microsoft.com/office/powerpoint/2010/main" val="7794128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DE06-3AEB-BB35-2B68-604339A0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Domain </a:t>
            </a:r>
            <a:r>
              <a:rPr lang="en-IN" dirty="0" err="1"/>
              <a:t>Modeling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703EDB-158F-55B3-DABC-582A0A5B1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18224E-A75D-3E93-6C3F-435683A6A2DD}"/>
              </a:ext>
            </a:extLst>
          </p:cNvPr>
          <p:cNvSpPr txBox="1"/>
          <p:nvPr/>
        </p:nvSpPr>
        <p:spPr>
          <a:xfrm>
            <a:off x="651164" y="1801091"/>
            <a:ext cx="10601036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bg1"/>
                </a:solidFill>
              </a:rPr>
              <a:t>Associations</a:t>
            </a:r>
          </a:p>
          <a:p>
            <a:pPr marL="1200150" lvl="2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</a:rPr>
              <a:t>To – One Association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</a:rPr>
              <a:t>To – Many Association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bg1"/>
                </a:solidFill>
              </a:rPr>
              <a:t>Compositions</a:t>
            </a:r>
          </a:p>
          <a:p>
            <a:pPr marL="1200150" lvl="2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</a:rPr>
              <a:t>To – One Association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bg1"/>
                </a:solidFill>
              </a:rPr>
              <a:t>To – Many Association</a:t>
            </a:r>
            <a:endParaRPr lang="en-IN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bg1"/>
                </a:solidFill>
              </a:rPr>
              <a:t>Aspects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bg1"/>
                </a:solidFill>
              </a:rPr>
              <a:t>Extend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8169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6181</TotalTime>
  <Words>278</Words>
  <Application>Microsoft Office PowerPoint</Application>
  <PresentationFormat>Widescreen</PresentationFormat>
  <Paragraphs>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Trade Gothic LT Pro</vt:lpstr>
      <vt:lpstr>Trebuchet MS</vt:lpstr>
      <vt:lpstr>Wingdings</vt:lpstr>
      <vt:lpstr>Office Theme</vt:lpstr>
      <vt:lpstr>SAP Cloud Application Programming Model</vt:lpstr>
      <vt:lpstr>Overview of CAPM</vt:lpstr>
      <vt:lpstr>What is CAPM ?</vt:lpstr>
      <vt:lpstr>Why do we need CAP ?</vt:lpstr>
      <vt:lpstr>Key Features</vt:lpstr>
      <vt:lpstr>Best use cases of CAP</vt:lpstr>
      <vt:lpstr>CAP Infrastructure</vt:lpstr>
      <vt:lpstr>BAS (Business Application Studio)</vt:lpstr>
      <vt:lpstr>DEV Spaces</vt:lpstr>
      <vt:lpstr>Creation of the first project</vt:lpstr>
      <vt:lpstr>CDS Umbrella</vt:lpstr>
      <vt:lpstr>PowerPoint Presentation</vt:lpstr>
      <vt:lpstr>PowerPoint Presentation</vt:lpstr>
      <vt:lpstr>PowerPoint Presentation</vt:lpstr>
      <vt:lpstr>Advanced Domain Modeling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Swapnil Garg</dc:creator>
  <cp:lastModifiedBy>Swapnil Garg</cp:lastModifiedBy>
  <cp:revision>9</cp:revision>
  <dcterms:created xsi:type="dcterms:W3CDTF">2026-04-10T13:24:48Z</dcterms:created>
  <dcterms:modified xsi:type="dcterms:W3CDTF">2026-04-15T06:40:32Z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