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2"/>
  </p:notesMasterIdLst>
  <p:sldIdLst>
    <p:sldId id="256" r:id="rId3"/>
    <p:sldId id="258" r:id="rId4"/>
    <p:sldId id="259" r:id="rId5"/>
    <p:sldId id="263" r:id="rId6"/>
    <p:sldId id="262" r:id="rId7"/>
    <p:sldId id="264" r:id="rId8"/>
    <p:sldId id="266" r:id="rId9"/>
    <p:sldId id="265" r:id="rId10"/>
    <p:sldId id="267" r:id="rId11"/>
    <p:sldId id="268" r:id="rId12"/>
    <p:sldId id="269" r:id="rId13"/>
    <p:sldId id="270" r:id="rId14"/>
    <p:sldId id="271" r:id="rId15"/>
    <p:sldId id="273" r:id="rId16"/>
    <p:sldId id="275" r:id="rId17"/>
    <p:sldId id="274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40" autoAdjust="0"/>
    <p:restoredTop sz="94661"/>
  </p:normalViewPr>
  <p:slideViewPr>
    <p:cSldViewPr snapToGrid="0">
      <p:cViewPr>
        <p:scale>
          <a:sx n="66" d="100"/>
          <a:sy n="66" d="100"/>
        </p:scale>
        <p:origin x="62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CC3EB-005D-3F47-9B00-04D51D935E6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1850E-D9EF-484A-A8C9-FE3D915A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1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D4915-DFE8-A9A2-34B7-0512642BD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2A895-CD6E-D756-9847-523D76426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5E7B8-63AB-9F64-4EF6-660E69D63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73666-0DAF-6A4A-4C54-DE32A4D305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982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6F1A4-EF57-4BCF-0858-AB9DA1B64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381DD-E0B0-0919-29F5-939E158D7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85342-948E-9BF7-F6BA-1348154FD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03847-D6CF-22C4-925B-CB090AEEAF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80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F529B-588D-6660-5B0A-01D0FB220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6EAEA-9E49-FA23-1FDA-255010478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AD1BB-AF80-4B6E-4C36-9F5E607AB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BEA08-0B1E-979D-99DC-D064A58C14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68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E9D89-AED1-97CE-5139-5869273B6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6D46B8-DDB9-F1EF-361C-D48EC17B4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9674A1-667D-95C2-39D1-F946A7271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B7A94-87C3-9238-D23C-C278DC8186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61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519B9-DDCB-E46F-5185-926A63282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0A7E09-ED0A-1BAA-B879-8D165F96B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2983A-EC7A-1EF0-2CDE-D993724C5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B67DC-676F-2A0E-A968-AE3AEC737A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0995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326AB-210C-7881-3A4B-66E71638D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43EDC-E9DB-E1DD-16F6-427AA8734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66458-51A9-4D3E-26BC-DD663463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40C8D-8A64-789A-26A1-927AD91C2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12669-4A2C-102F-51C0-475858E2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81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4CF72-A570-5914-9390-2A933C588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E7075-0567-2BD3-7F04-2627965AA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50EFC-BD88-AA67-024A-9F6C097D4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BE165-46F6-A7B5-27F9-B45E3F9D4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D8657-0491-D159-A5AC-63381ECBB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37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3D7D8-ED2E-8C3D-D31E-1EF2FD8CE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67C2B-7934-8CAD-57BF-99361DFB9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03B92-9399-308D-5C94-6F0C0B8D9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CF28-5A3F-1859-CF0D-C87F29FF5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9F743-9763-32B1-5E49-D280C9510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63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0F46-90E0-160C-9DA4-870BA2E49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A9B9E-47E6-3694-DD2D-3A3D16112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63A57-1E46-0846-6757-7A6893BE4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B76AE-7A21-04F6-29B1-EE170FA58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B4386-FD47-3C8A-112C-75044A306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25CBD-0923-5DFB-9348-3F717BC5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16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4AB63-81F6-BCB7-3502-24894C693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FBA12-CC6E-44D7-8F8E-3D03B435E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5141A-200E-769C-F5C7-AB14F337D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CDBDB7-6E97-D0C1-F3AA-D7CF95BA27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6E352-7F91-274F-9D15-06B86C0EB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DBB8BD-B14D-CC86-18E0-F627C283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0401F4-6F9B-D25E-B4FE-DE4C3D568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EB08CC-FA66-3F58-A395-2F968EF8C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3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E1F11-90DD-917C-B06B-CC7C0C87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3F87C3-B237-7550-BCC0-65AF9CD07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8047F2-E5A6-EBBE-66D6-1B01EF174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5398A0-D891-E6AF-D1E9-437DA39F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71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1BA60D-4CA0-4AD4-F8ED-CDC800374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32248D-FCDC-3924-D612-FA44E4C3F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9CC66-3F20-2AD6-6253-8DC2B8F2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78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06031-8039-287C-D89F-2BDF8934F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E2F9E-BCE6-9515-E743-AEA16998D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D15F3-5958-C5C4-5B61-5FA107BE7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8C66A-E861-EFB9-21C7-0B1B4B8D2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CD726-1A65-3917-7714-45F2AEE2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6A97C-E2FD-034C-C522-EF6D38E5F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733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4400-CDB0-5BCD-5915-006500A11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AAADD-A7D5-4837-743A-09377129C4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85D2B-FD10-24AC-3907-66A7D2970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04FC1-100B-1F83-B98E-006FCF2DB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41435-4172-98D3-6584-58DE9213F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C3DDB-4572-C921-B1BC-CA0A3554A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70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7317C-E1CC-5CC9-C6C2-629A7EFD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51478-F777-267A-9568-B5F49E1C0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3A44F-B444-56FE-9E88-1078C7ED0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68784-F1D0-351F-0A79-D1CB5D8E4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76E08-346E-E60B-C901-2CE7CEB6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70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BAAED4-3669-8DB5-503D-75BB9405B8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14059-E7C7-BF17-0FA5-0A3214FEB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06DB9-486C-EB31-CA6B-02D25ED4E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54D6-1774-E942-ACB0-7482290EE9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9BFB9-137E-C75F-82BF-679DB2283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0EBC8-D9D6-6184-71C9-402260ACA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75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8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172134-7B66-D802-8C4B-664686D20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27B69-AB5F-53E8-25C5-9F80F86E0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8EB6B-601A-CE11-1FC2-8B3E8B1E88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B54D6-1774-E942-ACB0-7482290EE9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EF250-5F60-5E61-2C97-59987FAD8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8D0D7-85DC-3B59-5A70-621CCD16F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61C18-A5D9-7044-B51D-7946120F1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85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F20C6-E0D2-F189-2C31-505B0923C6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Credit Risk Specialist - Assignment</a:t>
            </a:r>
          </a:p>
        </p:txBody>
      </p:sp>
    </p:spTree>
    <p:extLst>
      <p:ext uri="{BB962C8B-B14F-4D97-AF65-F5344CB8AC3E}">
        <p14:creationId xmlns:p14="http://schemas.microsoft.com/office/powerpoint/2010/main" val="2423989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87680" y="1950720"/>
            <a:ext cx="243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560320"/>
            <a:ext cx="11216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Balance Management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268224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Balance — Definition &amp; Risk Landscape</a:t>
            </a:r>
            <a:endParaRPr lang="en-US" sz="2933" dirty="0"/>
          </a:p>
        </p:txBody>
      </p:sp>
      <p:sp>
        <p:nvSpPr>
          <p:cNvPr id="3" name="Shape 1"/>
          <p:cNvSpPr/>
          <p:nvPr/>
        </p:nvSpPr>
        <p:spPr>
          <a:xfrm>
            <a:off x="487680" y="1036320"/>
            <a:ext cx="1121664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04800" y="1219200"/>
            <a:ext cx="3779520" cy="304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04800" y="1219200"/>
            <a:ext cx="3779520" cy="463296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26720" y="1267968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Negative Balance?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426720" y="1731264"/>
            <a:ext cx="3535680" cy="43015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IN" sz="1400" dirty="0"/>
              <a:t>Negative Balance (NB) occurs when a customer </a:t>
            </a:r>
            <a:r>
              <a:rPr lang="en-IN" sz="1400" b="1" dirty="0"/>
              <a:t>withdraws or spends more than their available account balance</a:t>
            </a:r>
            <a:r>
              <a:rPr lang="en-IN" sz="1400" dirty="0"/>
              <a:t>, effectively creating </a:t>
            </a:r>
            <a:r>
              <a:rPr lang="en-IN" sz="1400" b="1" dirty="0"/>
              <a:t>unsecured short-term credit exposure</a:t>
            </a:r>
            <a:r>
              <a:rPr lang="en-IN" sz="1400" dirty="0"/>
              <a:t>.</a:t>
            </a:r>
          </a:p>
        </p:txBody>
      </p:sp>
      <p:sp>
        <p:nvSpPr>
          <p:cNvPr id="8" name="Shape 6"/>
          <p:cNvSpPr/>
          <p:nvPr/>
        </p:nvSpPr>
        <p:spPr>
          <a:xfrm>
            <a:off x="4206240" y="1219200"/>
            <a:ext cx="3779520" cy="304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206240" y="1219200"/>
            <a:ext cx="3779520" cy="463296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328160" y="1267968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4328160" y="1731264"/>
            <a:ext cx="353568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IN" sz="1400" dirty="0"/>
              <a:t>Key Risk Area Impacted by Negative Balance-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IN" sz="1400" dirty="0"/>
              <a:t>Credit Risk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IN" sz="1400" dirty="0"/>
              <a:t>Liquidity Risk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IN" sz="1400" dirty="0"/>
              <a:t>Regulatory Risk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IN" sz="1400" dirty="0"/>
              <a:t>Fraud Risk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IN" sz="1400" dirty="0"/>
              <a:t>Customer Behaviour Risk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IN" sz="1400" dirty="0"/>
              <a:t>Operational Risk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IN" sz="1400" dirty="0"/>
              <a:t>Provisioning &amp; Financial Impact</a:t>
            </a:r>
          </a:p>
          <a:p>
            <a:pPr>
              <a:buSzPct val="100000"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7680" y="1219200"/>
            <a:ext cx="3779520" cy="304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107680" y="1219200"/>
            <a:ext cx="3779520" cy="46329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0" y="1267968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Drivers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8229600" y="1731264"/>
            <a:ext cx="353568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IN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This happen in Fintech/ Banking?</a:t>
            </a:r>
          </a:p>
          <a:p>
            <a:r>
              <a:rPr lang="en-IN" sz="1400" dirty="0"/>
              <a:t>            NB is common in: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wallets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merchant settlement accounts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UPI credit / BNPL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credit cards 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8BFBAD2-BA57-095D-BD89-0D37B0134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83825"/>
              </p:ext>
            </p:extLst>
          </p:nvPr>
        </p:nvGraphicFramePr>
        <p:xfrm>
          <a:off x="304799" y="4413504"/>
          <a:ext cx="115824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967">
                  <a:extLst>
                    <a:ext uri="{9D8B030D-6E8A-4147-A177-3AD203B41FA5}">
                      <a16:colId xmlns:a16="http://schemas.microsoft.com/office/drawing/2014/main" val="214137003"/>
                    </a:ext>
                  </a:extLst>
                </a:gridCol>
                <a:gridCol w="3389971">
                  <a:extLst>
                    <a:ext uri="{9D8B030D-6E8A-4147-A177-3AD203B41FA5}">
                      <a16:colId xmlns:a16="http://schemas.microsoft.com/office/drawing/2014/main" val="3208153476"/>
                    </a:ext>
                  </a:extLst>
                </a:gridCol>
                <a:gridCol w="3278458">
                  <a:extLst>
                    <a:ext uri="{9D8B030D-6E8A-4147-A177-3AD203B41FA5}">
                      <a16:colId xmlns:a16="http://schemas.microsoft.com/office/drawing/2014/main" val="3538698706"/>
                    </a:ext>
                  </a:extLst>
                </a:gridCol>
                <a:gridCol w="3245004">
                  <a:extLst>
                    <a:ext uri="{9D8B030D-6E8A-4147-A177-3AD203B41FA5}">
                      <a16:colId xmlns:a16="http://schemas.microsoft.com/office/drawing/2014/main" val="173859730"/>
                    </a:ext>
                  </a:extLst>
                </a:gridCol>
              </a:tblGrid>
              <a:tr h="38823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UK (FCA)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EU(EBA)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India (RBI)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967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FAC40-DF6B-CEBC-9865-854137C6E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71245C-71AA-EE5B-9AC3-B07B690B7464}"/>
              </a:ext>
            </a:extLst>
          </p:cNvPr>
          <p:cNvSpPr/>
          <p:nvPr/>
        </p:nvSpPr>
        <p:spPr>
          <a:xfrm>
            <a:off x="487680" y="268224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Balance — Risk Management Framework</a:t>
            </a:r>
            <a:endParaRPr lang="en-US" sz="2933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232CB7D-F4E8-C2BF-DE90-6E5F83A2AE8B}"/>
              </a:ext>
            </a:extLst>
          </p:cNvPr>
          <p:cNvSpPr/>
          <p:nvPr/>
        </p:nvSpPr>
        <p:spPr>
          <a:xfrm>
            <a:off x="487680" y="1036320"/>
            <a:ext cx="1121664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25F01BA-DF26-9151-4E7C-43B30C470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710" y="1250950"/>
            <a:ext cx="2060725" cy="15850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C631775-516D-2413-0DEE-D79CE31C5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430" y="1229487"/>
            <a:ext cx="2058924" cy="15850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2B96F29-82E4-C48E-683C-F42755424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0570" y="1250949"/>
            <a:ext cx="1966725" cy="158502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F9202D0-0162-D730-4F49-6DFCD7E2CC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0023" y="1229486"/>
            <a:ext cx="2150261" cy="1461505"/>
          </a:xfrm>
          <a:prstGeom prst="rect">
            <a:avLst/>
          </a:prstGeom>
        </p:spPr>
      </p:pic>
      <p:sp>
        <p:nvSpPr>
          <p:cNvPr id="30" name="Curved Up Arrow 29">
            <a:extLst>
              <a:ext uri="{FF2B5EF4-FFF2-40B4-BE49-F238E27FC236}">
                <a16:creationId xmlns:a16="http://schemas.microsoft.com/office/drawing/2014/main" id="{73087E30-85FF-F93C-749F-421F77EE4893}"/>
              </a:ext>
            </a:extLst>
          </p:cNvPr>
          <p:cNvSpPr/>
          <p:nvPr/>
        </p:nvSpPr>
        <p:spPr>
          <a:xfrm>
            <a:off x="2289861" y="2789490"/>
            <a:ext cx="839564" cy="38471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Curved Up Arrow 33">
            <a:extLst>
              <a:ext uri="{FF2B5EF4-FFF2-40B4-BE49-F238E27FC236}">
                <a16:creationId xmlns:a16="http://schemas.microsoft.com/office/drawing/2014/main" id="{62F090DD-7364-FC80-0322-A5D4BA99E722}"/>
              </a:ext>
            </a:extLst>
          </p:cNvPr>
          <p:cNvSpPr/>
          <p:nvPr/>
        </p:nvSpPr>
        <p:spPr>
          <a:xfrm>
            <a:off x="4554187" y="2821671"/>
            <a:ext cx="839564" cy="38471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urved Up Arrow 34">
            <a:extLst>
              <a:ext uri="{FF2B5EF4-FFF2-40B4-BE49-F238E27FC236}">
                <a16:creationId xmlns:a16="http://schemas.microsoft.com/office/drawing/2014/main" id="{BBF08D70-5C77-3AD6-E39C-80D40FF9A242}"/>
              </a:ext>
            </a:extLst>
          </p:cNvPr>
          <p:cNvSpPr/>
          <p:nvPr/>
        </p:nvSpPr>
        <p:spPr>
          <a:xfrm>
            <a:off x="6856423" y="2835977"/>
            <a:ext cx="839564" cy="38471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Curved Up Arrow 35">
            <a:extLst>
              <a:ext uri="{FF2B5EF4-FFF2-40B4-BE49-F238E27FC236}">
                <a16:creationId xmlns:a16="http://schemas.microsoft.com/office/drawing/2014/main" id="{9ABED372-0FCA-7DF3-E94E-9CD32E14CF2D}"/>
              </a:ext>
            </a:extLst>
          </p:cNvPr>
          <p:cNvSpPr/>
          <p:nvPr/>
        </p:nvSpPr>
        <p:spPr>
          <a:xfrm>
            <a:off x="9177557" y="2789490"/>
            <a:ext cx="839564" cy="38471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2CA686D5-CDC4-1765-D881-05B803EDA011}"/>
              </a:ext>
            </a:extLst>
          </p:cNvPr>
          <p:cNvSpPr/>
          <p:nvPr/>
        </p:nvSpPr>
        <p:spPr>
          <a:xfrm>
            <a:off x="191716" y="3637307"/>
            <a:ext cx="3779520" cy="293113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E3B17B01-9FD3-3473-8531-423CFE4485AA}"/>
              </a:ext>
            </a:extLst>
          </p:cNvPr>
          <p:cNvSpPr/>
          <p:nvPr/>
        </p:nvSpPr>
        <p:spPr>
          <a:xfrm>
            <a:off x="191716" y="3637307"/>
            <a:ext cx="3779520" cy="463296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C4A3491E-D971-4AF0-CBB9-4372076A8DEF}"/>
              </a:ext>
            </a:extLst>
          </p:cNvPr>
          <p:cNvSpPr/>
          <p:nvPr/>
        </p:nvSpPr>
        <p:spPr>
          <a:xfrm>
            <a:off x="313636" y="3686075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Line — Operations / Product</a:t>
            </a:r>
            <a:endParaRPr lang="en-US" sz="1467" dirty="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322F7EA5-DF5D-9546-6B2B-C005C8ADBD4F}"/>
              </a:ext>
            </a:extLst>
          </p:cNvPr>
          <p:cNvSpPr/>
          <p:nvPr/>
        </p:nvSpPr>
        <p:spPr>
          <a:xfrm>
            <a:off x="313636" y="4149371"/>
            <a:ext cx="3535680" cy="21099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balance checks before payment initiation</a:t>
            </a:r>
            <a:endParaRPr lang="en-US" sz="1400" dirty="0"/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block at transaction gateway when Limit Exceed – Create Exposure Limit.</a:t>
            </a:r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block at transaction gateway.</a:t>
            </a:r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Communication.</a:t>
            </a:r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exposure dashboard for Ops team</a:t>
            </a:r>
            <a:endParaRPr lang="en-US" sz="1400" dirty="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11C2BC5D-6BA4-B3F7-F97B-444DF3AB925B}"/>
              </a:ext>
            </a:extLst>
          </p:cNvPr>
          <p:cNvSpPr/>
          <p:nvPr/>
        </p:nvSpPr>
        <p:spPr>
          <a:xfrm>
            <a:off x="4093156" y="3637307"/>
            <a:ext cx="3779520" cy="293113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910381D0-13DA-8BB0-01C3-E79E24E5DE2D}"/>
              </a:ext>
            </a:extLst>
          </p:cNvPr>
          <p:cNvSpPr/>
          <p:nvPr/>
        </p:nvSpPr>
        <p:spPr>
          <a:xfrm>
            <a:off x="4093156" y="3637307"/>
            <a:ext cx="3779520" cy="463296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1458AB7D-5075-8A45-1D68-AA4F525F1EC8}"/>
              </a:ext>
            </a:extLst>
          </p:cNvPr>
          <p:cNvSpPr/>
          <p:nvPr/>
        </p:nvSpPr>
        <p:spPr>
          <a:xfrm>
            <a:off x="4215076" y="3686075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Line — Credit Risk &amp; Compliance</a:t>
            </a:r>
            <a:endParaRPr lang="en-US" sz="1467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47B4DAE5-A85E-F3B1-82D4-F45B7BB4A0B6}"/>
              </a:ext>
            </a:extLst>
          </p:cNvPr>
          <p:cNvSpPr/>
          <p:nvPr/>
        </p:nvSpPr>
        <p:spPr>
          <a:xfrm>
            <a:off x="4215076" y="4149371"/>
            <a:ext cx="3535680" cy="2262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NB exposure MI — daily ageing buckets (0-7d, 8-30d, 31-60d, 60d+)</a:t>
            </a:r>
            <a:endParaRPr lang="en-US" sz="1400" dirty="0"/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limit reviews on aggregate NB exposure per market</a:t>
            </a:r>
            <a:endParaRPr lang="en-US" sz="1400" dirty="0"/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Early warning Indicators.</a:t>
            </a:r>
            <a:endParaRPr lang="en-US" sz="1400" dirty="0"/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reporting: FCA Gabriel, RBI CRILC, EBA corep templates</a:t>
            </a:r>
            <a:endParaRPr lang="en-US" sz="1400" dirty="0"/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Design.</a:t>
            </a:r>
          </a:p>
          <a:p>
            <a:pPr marL="457189" indent="-457189">
              <a:buSzPct val="100000"/>
              <a:buChar char="•"/>
            </a:pPr>
            <a:r>
              <a:rPr lang="en-IN" sz="1400" dirty="0"/>
              <a:t>Model &amp; Strategy Validation.</a:t>
            </a:r>
            <a:endParaRPr lang="en-US" sz="1400" dirty="0"/>
          </a:p>
        </p:txBody>
      </p:sp>
      <p:sp>
        <p:nvSpPr>
          <p:cNvPr id="45" name="Shape 10">
            <a:extLst>
              <a:ext uri="{FF2B5EF4-FFF2-40B4-BE49-F238E27FC236}">
                <a16:creationId xmlns:a16="http://schemas.microsoft.com/office/drawing/2014/main" id="{FDCF2D43-5D43-9EC6-5919-346BDEF8EA71}"/>
              </a:ext>
            </a:extLst>
          </p:cNvPr>
          <p:cNvSpPr/>
          <p:nvPr/>
        </p:nvSpPr>
        <p:spPr>
          <a:xfrm>
            <a:off x="7994596" y="3637307"/>
            <a:ext cx="3779520" cy="293113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11">
            <a:extLst>
              <a:ext uri="{FF2B5EF4-FFF2-40B4-BE49-F238E27FC236}">
                <a16:creationId xmlns:a16="http://schemas.microsoft.com/office/drawing/2014/main" id="{BEDC5549-038A-5D09-A5BB-6811598037E3}"/>
              </a:ext>
            </a:extLst>
          </p:cNvPr>
          <p:cNvSpPr/>
          <p:nvPr/>
        </p:nvSpPr>
        <p:spPr>
          <a:xfrm>
            <a:off x="7994596" y="3637307"/>
            <a:ext cx="3779520" cy="46329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4B3BC8B0-4733-F2E5-1A43-EC6CF11AE082}"/>
              </a:ext>
            </a:extLst>
          </p:cNvPr>
          <p:cNvSpPr/>
          <p:nvPr/>
        </p:nvSpPr>
        <p:spPr>
          <a:xfrm>
            <a:off x="8116516" y="3686075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Line — Internal Audit</a:t>
            </a:r>
            <a:endParaRPr lang="en-US" sz="1467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B343CBCE-E9CB-122F-483D-3DAECC2809EC}"/>
              </a:ext>
            </a:extLst>
          </p:cNvPr>
          <p:cNvSpPr/>
          <p:nvPr/>
        </p:nvSpPr>
        <p:spPr>
          <a:xfrm>
            <a:off x="8116516" y="4149371"/>
            <a:ext cx="3535680" cy="2262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audit of NB controls effectiveness</a:t>
            </a:r>
            <a:endParaRPr lang="en-US" sz="1400" dirty="0"/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testing of recovery actions vs policy</a:t>
            </a:r>
            <a:endParaRPr lang="en-US" sz="1400" dirty="0"/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of provisioning methodology</a:t>
            </a:r>
            <a:endParaRPr lang="en-US" sz="1400" dirty="0"/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 readiness reviews</a:t>
            </a:r>
            <a:endParaRPr lang="en-US" sz="14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0DC6A93D-2E8C-3DB2-8994-F9F4E074AF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237" y="1250950"/>
            <a:ext cx="2277338" cy="158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76CA9-47AF-A9DC-F945-79AA6667F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6FED96-FBCF-728A-EBDB-3A95D9E17E48}"/>
              </a:ext>
            </a:extLst>
          </p:cNvPr>
          <p:cNvSpPr/>
          <p:nvPr/>
        </p:nvSpPr>
        <p:spPr>
          <a:xfrm>
            <a:off x="487680" y="268224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Balance Controls Framework — Three Lines of Defence</a:t>
            </a:r>
            <a:endParaRPr lang="en-US" sz="2933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75F003C-A0EC-11E2-F725-FB78EFF95E84}"/>
              </a:ext>
            </a:extLst>
          </p:cNvPr>
          <p:cNvSpPr/>
          <p:nvPr/>
        </p:nvSpPr>
        <p:spPr>
          <a:xfrm>
            <a:off x="487680" y="1036320"/>
            <a:ext cx="1121664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DB0FCF2-7DDD-49A3-47E1-E8763860E0EA}"/>
              </a:ext>
            </a:extLst>
          </p:cNvPr>
          <p:cNvSpPr/>
          <p:nvPr/>
        </p:nvSpPr>
        <p:spPr>
          <a:xfrm>
            <a:off x="1129991" y="1169392"/>
            <a:ext cx="9932020" cy="463296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C93996A-2BDB-5BEC-A3E8-56436AA52416}"/>
              </a:ext>
            </a:extLst>
          </p:cNvPr>
          <p:cNvSpPr/>
          <p:nvPr/>
        </p:nvSpPr>
        <p:spPr>
          <a:xfrm>
            <a:off x="4842603" y="1205968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Key Metrics Monitored</a:t>
            </a:r>
            <a:endParaRPr lang="en-US" sz="1467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3DDBF8A-F92C-4EE8-A1EC-731216A86284}"/>
              </a:ext>
            </a:extLst>
          </p:cNvPr>
          <p:cNvSpPr/>
          <p:nvPr/>
        </p:nvSpPr>
        <p:spPr>
          <a:xfrm>
            <a:off x="487680" y="5144200"/>
            <a:ext cx="3360234" cy="1057803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BA67A3-D41D-E75B-213B-ABCC05BC4F89}"/>
              </a:ext>
            </a:extLst>
          </p:cNvPr>
          <p:cNvSpPr txBox="1"/>
          <p:nvPr/>
        </p:nvSpPr>
        <p:spPr>
          <a:xfrm>
            <a:off x="487680" y="5144200"/>
            <a:ext cx="31892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Extraction &amp; Storage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SQL Databases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9E66D96-E6B6-5751-96A0-9D3BCB86EEB8}"/>
              </a:ext>
            </a:extLst>
          </p:cNvPr>
          <p:cNvSpPr/>
          <p:nvPr/>
        </p:nvSpPr>
        <p:spPr>
          <a:xfrm>
            <a:off x="4318124" y="5098034"/>
            <a:ext cx="3683620" cy="1103970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B1139B-B445-7FEC-D76E-63B8ABC2F00C}"/>
              </a:ext>
            </a:extLst>
          </p:cNvPr>
          <p:cNvSpPr txBox="1"/>
          <p:nvPr/>
        </p:nvSpPr>
        <p:spPr>
          <a:xfrm>
            <a:off x="4318124" y="5144200"/>
            <a:ext cx="3995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Real-Time Monitoring &amp; Alerting Tools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Transaction Monitoring systems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Event based alert systems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Fraud detection systems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3BBC578-9230-16DB-2777-9CB5DC6558C8}"/>
              </a:ext>
            </a:extLst>
          </p:cNvPr>
          <p:cNvSpPr/>
          <p:nvPr/>
        </p:nvSpPr>
        <p:spPr>
          <a:xfrm>
            <a:off x="8471954" y="5098033"/>
            <a:ext cx="3360234" cy="1103959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E1CC94-93ED-A2E7-A895-CC7A0DB1D70E}"/>
              </a:ext>
            </a:extLst>
          </p:cNvPr>
          <p:cNvSpPr txBox="1"/>
          <p:nvPr/>
        </p:nvSpPr>
        <p:spPr>
          <a:xfrm>
            <a:off x="8471954" y="5144200"/>
            <a:ext cx="368362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MIS &amp; Reporting Systems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Internal MIS reports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400" dirty="0"/>
              <a:t>Schedule reporting systems</a:t>
            </a:r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9F2C6EBF-6895-B7A0-FE5F-3A484EFAD6DB}"/>
              </a:ext>
            </a:extLst>
          </p:cNvPr>
          <p:cNvSpPr/>
          <p:nvPr/>
        </p:nvSpPr>
        <p:spPr>
          <a:xfrm>
            <a:off x="707731" y="4027314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1A3A8F"/>
                </a:solidFill>
                <a:latin typeface="Calibri" pitchFamily="34" charset="0"/>
                <a:cs typeface="Calibri" pitchFamily="34" charset="-120"/>
              </a:rPr>
              <a:t>Tools use to Report Negative Balance Exposure</a:t>
            </a:r>
            <a:endParaRPr lang="en-US" sz="2933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A5662CC-3D00-8FA6-AE31-ABA6AC596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577" y="1879702"/>
            <a:ext cx="1332701" cy="13327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72CAC16-ECE9-FAAE-61F4-877D583D9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368" y="1879701"/>
            <a:ext cx="1357847" cy="13327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940870C-53A1-2CAF-B868-9890D745EF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946" y="1881117"/>
            <a:ext cx="1424692" cy="11053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4CE6F21-7DF1-6B0F-745A-EE58E26637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1572" y="1874351"/>
            <a:ext cx="1332701" cy="130707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279A2FF-C00D-D81E-93D9-50D224F0A8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3932" y="1875898"/>
            <a:ext cx="1332700" cy="111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771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87680" y="1950720"/>
            <a:ext cx="243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560320"/>
            <a:ext cx="11216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Oversight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C509C-8073-2ED9-ADD5-2ED4E04A2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5C0209-1BDD-6A4D-7A78-C4156C2123B3}"/>
              </a:ext>
            </a:extLst>
          </p:cNvPr>
          <p:cNvSpPr/>
          <p:nvPr/>
        </p:nvSpPr>
        <p:spPr>
          <a:xfrm>
            <a:off x="487680" y="268224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A3A8F"/>
                </a:solidFill>
                <a:latin typeface="Calibri" pitchFamily="34" charset="0"/>
                <a:cs typeface="Calibri" pitchFamily="34" charset="-120"/>
              </a:rPr>
              <a:t>Collections Framework</a:t>
            </a:r>
            <a:endParaRPr lang="en-US" sz="2933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FB4389-9823-F54E-F438-9C7C0D8AB64B}"/>
              </a:ext>
            </a:extLst>
          </p:cNvPr>
          <p:cNvSpPr/>
          <p:nvPr/>
        </p:nvSpPr>
        <p:spPr>
          <a:xfrm>
            <a:off x="487680" y="1036320"/>
            <a:ext cx="1121664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D068AF6-174D-A0DC-8F3C-037340016CF2}"/>
              </a:ext>
            </a:extLst>
          </p:cNvPr>
          <p:cNvSpPr/>
          <p:nvPr/>
        </p:nvSpPr>
        <p:spPr>
          <a:xfrm>
            <a:off x="304800" y="1219199"/>
            <a:ext cx="3779520" cy="537057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5B939E9-4F06-34DB-D025-2AB63387D7E7}"/>
              </a:ext>
            </a:extLst>
          </p:cNvPr>
          <p:cNvSpPr/>
          <p:nvPr/>
        </p:nvSpPr>
        <p:spPr>
          <a:xfrm>
            <a:off x="304800" y="1219200"/>
            <a:ext cx="3779520" cy="463296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FA60A05-9E2F-BDB0-326D-BF8CD434E8B0}"/>
              </a:ext>
            </a:extLst>
          </p:cNvPr>
          <p:cNvSpPr/>
          <p:nvPr/>
        </p:nvSpPr>
        <p:spPr>
          <a:xfrm>
            <a:off x="426720" y="1267968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Segmentation</a:t>
            </a:r>
            <a:endParaRPr lang="en-US" sz="1467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48B8DFB-6120-429C-DCDC-9AA30C4B99C9}"/>
              </a:ext>
            </a:extLst>
          </p:cNvPr>
          <p:cNvSpPr/>
          <p:nvPr/>
        </p:nvSpPr>
        <p:spPr>
          <a:xfrm>
            <a:off x="426720" y="1731264"/>
            <a:ext cx="3535680" cy="1569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IN" sz="1400" dirty="0"/>
              <a:t>Low Risk Segment – Having Good Credit History – </a:t>
            </a:r>
            <a:r>
              <a:rPr lang="en-IN" sz="1400" b="1" dirty="0"/>
              <a:t>Soft Reminders.</a:t>
            </a:r>
          </a:p>
          <a:p>
            <a:pPr marL="457189" indent="-457189">
              <a:buSzPct val="100000"/>
              <a:buChar char="•"/>
            </a:pPr>
            <a:r>
              <a:rPr lang="en-IN" sz="1400" dirty="0"/>
              <a:t>Medium Risk Segment - Occasional delays – </a:t>
            </a:r>
            <a:r>
              <a:rPr lang="en-IN" sz="1400" b="1" dirty="0"/>
              <a:t>Calls+ nudges.</a:t>
            </a:r>
          </a:p>
          <a:p>
            <a:pPr marL="457189" indent="-457189">
              <a:buSzPct val="100000"/>
              <a:buChar char="•"/>
            </a:pPr>
            <a:r>
              <a:rPr lang="en-IN" sz="1400" dirty="0"/>
              <a:t>High Risk – Frequent NB / no repayment – </a:t>
            </a:r>
            <a:r>
              <a:rPr lang="en-IN" sz="1400" b="1" dirty="0"/>
              <a:t>Strong Action.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0C1FA33-310D-7A65-11D0-49E77AC21BC7}"/>
              </a:ext>
            </a:extLst>
          </p:cNvPr>
          <p:cNvSpPr/>
          <p:nvPr/>
        </p:nvSpPr>
        <p:spPr>
          <a:xfrm>
            <a:off x="4206240" y="1219200"/>
            <a:ext cx="3779520" cy="53705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3F8A647-1AA3-2119-BC5F-6B29B2A090A8}"/>
              </a:ext>
            </a:extLst>
          </p:cNvPr>
          <p:cNvSpPr/>
          <p:nvPr/>
        </p:nvSpPr>
        <p:spPr>
          <a:xfrm>
            <a:off x="4206240" y="1219200"/>
            <a:ext cx="3779520" cy="463296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DC6426F-5E05-4C1F-5081-2984B95F5FC7}"/>
              </a:ext>
            </a:extLst>
          </p:cNvPr>
          <p:cNvSpPr/>
          <p:nvPr/>
        </p:nvSpPr>
        <p:spPr>
          <a:xfrm>
            <a:off x="4328160" y="1267968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Automated Collections Workflow</a:t>
            </a:r>
            <a:endParaRPr lang="en-US" sz="1467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0CA2A59-37B1-06F3-8E5F-5CE464F30F1A}"/>
              </a:ext>
            </a:extLst>
          </p:cNvPr>
          <p:cNvSpPr/>
          <p:nvPr/>
        </p:nvSpPr>
        <p:spPr>
          <a:xfrm>
            <a:off x="4328160" y="1731264"/>
            <a:ext cx="353568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Day 0 (NB Created)</a:t>
            </a:r>
          </a:p>
          <a:p>
            <a:pPr>
              <a:buSzPct val="100000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Instant SMS / App notification</a:t>
            </a:r>
          </a:p>
          <a:p>
            <a:pPr>
              <a:buSzPct val="100000"/>
            </a:pP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00000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Day 1-3</a:t>
            </a:r>
          </a:p>
          <a:p>
            <a:pPr>
              <a:buSzPct val="100000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Reminder notifications &amp; Email, App notification.</a:t>
            </a:r>
          </a:p>
          <a:p>
            <a:pPr>
              <a:buSzPct val="100000"/>
            </a:pP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00000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Day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3-7</a:t>
            </a:r>
          </a:p>
          <a:p>
            <a:pPr>
              <a:buSzPct val="100000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SMS + call attempt; restrict outgoing payments (card present)</a:t>
            </a: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00000"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00000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Day 8-30</a:t>
            </a:r>
          </a:p>
          <a:p>
            <a:pPr>
              <a:buSzPct val="100000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Dedicated collections team; payment plan offered; hardship flag if SME distress signals</a:t>
            </a: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00000"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00000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Day 31-60</a:t>
            </a:r>
          </a:p>
          <a:p>
            <a:pPr>
              <a:buSzPct val="100000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Formal demand letter; account suspension; third-party agency referral assessment</a:t>
            </a: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00000"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00000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Day 60+</a:t>
            </a:r>
          </a:p>
          <a:p>
            <a:pPr>
              <a:buSzPct val="100000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IFRS 9 Stage 3; write-off with board approval; legal recovery where economically viable</a:t>
            </a: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00000"/>
            </a:pPr>
            <a:endParaRPr lang="en-US" sz="1400" dirty="0"/>
          </a:p>
          <a:p>
            <a:pPr>
              <a:buSzPct val="100000"/>
            </a:pPr>
            <a:endParaRPr lang="en-US" sz="1400" dirty="0"/>
          </a:p>
          <a:p>
            <a:pPr>
              <a:buSzPct val="100000"/>
            </a:pPr>
            <a:endParaRPr lang="en-US" sz="1400" dirty="0"/>
          </a:p>
          <a:p>
            <a:pPr>
              <a:buSzPct val="100000"/>
            </a:pP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7133E61-91F3-E59C-C2BE-5B18A0710777}"/>
              </a:ext>
            </a:extLst>
          </p:cNvPr>
          <p:cNvSpPr/>
          <p:nvPr/>
        </p:nvSpPr>
        <p:spPr>
          <a:xfrm>
            <a:off x="8107680" y="1219200"/>
            <a:ext cx="3779520" cy="304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68B1662-FAA9-38D9-B7CF-456EE47766DE}"/>
              </a:ext>
            </a:extLst>
          </p:cNvPr>
          <p:cNvSpPr/>
          <p:nvPr/>
        </p:nvSpPr>
        <p:spPr>
          <a:xfrm>
            <a:off x="8107680" y="1219200"/>
            <a:ext cx="3779520" cy="46329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FEEF88F-0FC8-78EA-1143-AE0C77837CE2}"/>
              </a:ext>
            </a:extLst>
          </p:cNvPr>
          <p:cNvSpPr/>
          <p:nvPr/>
        </p:nvSpPr>
        <p:spPr>
          <a:xfrm>
            <a:off x="8229600" y="1267968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Monitoring &amp; KPIs</a:t>
            </a:r>
            <a:endParaRPr lang="en-US" sz="1467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A23A53D-8987-2875-F2D1-AF684234FA3F}"/>
              </a:ext>
            </a:extLst>
          </p:cNvPr>
          <p:cNvSpPr/>
          <p:nvPr/>
        </p:nvSpPr>
        <p:spPr>
          <a:xfrm>
            <a:off x="8229600" y="1731264"/>
            <a:ext cx="353568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IN" sz="1400" dirty="0">
                <a:solidFill>
                  <a:srgbClr val="1E293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KPIs</a:t>
            </a: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Recovery Rate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Roll Rate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Aging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Cure Rate</a:t>
            </a:r>
          </a:p>
          <a:p>
            <a:pPr lvl="1"/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Dashboard Layout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Portfolio Overview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Aging &amp; Delinquency analysis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Recovery performance</a:t>
            </a:r>
          </a:p>
          <a:p>
            <a:pPr marL="742950" lvl="1" indent="-285750">
              <a:buSzPct val="10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EWI</a:t>
            </a:r>
          </a:p>
        </p:txBody>
      </p:sp>
    </p:spTree>
    <p:extLst>
      <p:ext uri="{BB962C8B-B14F-4D97-AF65-F5344CB8AC3E}">
        <p14:creationId xmlns:p14="http://schemas.microsoft.com/office/powerpoint/2010/main" val="2873210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87680" y="1950720"/>
            <a:ext cx="243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2560320"/>
            <a:ext cx="11216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SME Credit Decisioning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A4375-21D4-71DC-F98F-BA6F2229E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E3DA42-5A9B-ACFC-0C7C-2B8ED49E300D}"/>
              </a:ext>
            </a:extLst>
          </p:cNvPr>
          <p:cNvSpPr/>
          <p:nvPr/>
        </p:nvSpPr>
        <p:spPr>
          <a:xfrm>
            <a:off x="487680" y="268224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A3A8F"/>
                </a:solidFill>
                <a:latin typeface="Calibri" pitchFamily="34" charset="0"/>
                <a:cs typeface="Calibri" pitchFamily="34" charset="-120"/>
              </a:rPr>
              <a:t>Portfolio At a Glance</a:t>
            </a:r>
            <a:endParaRPr lang="en-US" sz="2933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C099833-97A6-6444-3CB6-59994FFFEEB4}"/>
              </a:ext>
            </a:extLst>
          </p:cNvPr>
          <p:cNvSpPr/>
          <p:nvPr/>
        </p:nvSpPr>
        <p:spPr>
          <a:xfrm>
            <a:off x="487680" y="1036319"/>
            <a:ext cx="4258056" cy="45719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62810E-8745-DC5A-00E5-8DF9884A5A4B}"/>
              </a:ext>
            </a:extLst>
          </p:cNvPr>
          <p:cNvSpPr txBox="1"/>
          <p:nvPr/>
        </p:nvSpPr>
        <p:spPr>
          <a:xfrm>
            <a:off x="192024" y="1239786"/>
            <a:ext cx="384048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dirty="0"/>
              <a:t>Situation (Q1 2024) – Nova SME Finance launches a revolving SME Credit product across India. Target retail shops, food stalls, professional service firms and construction business. </a:t>
            </a:r>
            <a:r>
              <a:rPr lang="en-GB" sz="1400" dirty="0"/>
              <a:t>Goal: deploy ₹15 Crore to 500 SMEs in 12 months using an automated CIBIL-based scorecard.</a:t>
            </a:r>
          </a:p>
          <a:p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dirty="0"/>
              <a:t>Decision (June 2024) – Business pressures mount. Origination volumes are lower that target. Management makes a call – lower the minimum CIBIL score threshold from 650 to 600 to approve more applications.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dirty="0"/>
              <a:t>The Problem (By Dec 2024) - </a:t>
            </a:r>
            <a:r>
              <a:rPr lang="en-GB" sz="1400" dirty="0"/>
              <a:t>The Q2 2024 cohort begins to show alarming delinquency — </a:t>
            </a:r>
            <a:r>
              <a:rPr lang="en-GB" sz="1400" b="1" dirty="0"/>
              <a:t>18.6% DPD 30+</a:t>
            </a:r>
            <a:r>
              <a:rPr lang="en-GB" sz="1400" dirty="0"/>
              <a:t> by Month 9. That's nearly </a:t>
            </a:r>
            <a:r>
              <a:rPr lang="en-GB" sz="1400" b="1" dirty="0"/>
              <a:t>2.4× the portfolio average</a:t>
            </a:r>
            <a:r>
              <a:rPr lang="en-GB" sz="1400" dirty="0"/>
              <a:t>. The credit risk team is called in. This presentation is the story of what they found — and how they fixed it.</a:t>
            </a:r>
            <a:endParaRPr lang="en-IN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B4AC19-E08E-9B2C-A6E6-F4EF6DF611AA}"/>
              </a:ext>
            </a:extLst>
          </p:cNvPr>
          <p:cNvSpPr txBox="1"/>
          <p:nvPr/>
        </p:nvSpPr>
        <p:spPr>
          <a:xfrm>
            <a:off x="5086350" y="339787"/>
            <a:ext cx="7190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1A1A2E"/>
                </a:solidFill>
                <a:effectLst/>
                <a:latin typeface="Outfit"/>
              </a:rPr>
              <a:t>The CIBIL-based automated scorecard used for </a:t>
            </a:r>
            <a:r>
              <a:rPr lang="en-GB" b="1" i="0" dirty="0" err="1">
                <a:solidFill>
                  <a:srgbClr val="1A1A2E"/>
                </a:solidFill>
                <a:effectLst/>
                <a:latin typeface="Outfit"/>
              </a:rPr>
              <a:t>NovaSME's</a:t>
            </a:r>
            <a:r>
              <a:rPr lang="en-GB" b="1" i="0" dirty="0">
                <a:solidFill>
                  <a:srgbClr val="1A1A2E"/>
                </a:solidFill>
                <a:effectLst/>
                <a:latin typeface="Outfit"/>
              </a:rPr>
              <a:t> revolving credit line — 10 variables used for Scorecard.</a:t>
            </a:r>
            <a:endParaRPr lang="en-IN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7409DE7-5F7F-110F-23DA-701BE2238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9" y="1132267"/>
            <a:ext cx="7190232" cy="473961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BB4E05B-958F-C419-936C-98E27065D3E3}"/>
              </a:ext>
            </a:extLst>
          </p:cNvPr>
          <p:cNvSpPr txBox="1"/>
          <p:nvPr/>
        </p:nvSpPr>
        <p:spPr>
          <a:xfrm>
            <a:off x="4745736" y="5871882"/>
            <a:ext cx="71902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78350F"/>
                </a:solidFill>
                <a:effectLst/>
                <a:latin typeface="Outfit"/>
              </a:rPr>
              <a:t>Key Insight:</a:t>
            </a:r>
            <a:r>
              <a:rPr lang="en-GB" b="0" i="0" dirty="0">
                <a:solidFill>
                  <a:srgbClr val="78350F"/>
                </a:solidFill>
                <a:effectLst/>
                <a:latin typeface="Outfit"/>
              </a:rPr>
              <a:t> Accounts with CIBIL 600–649 show </a:t>
            </a:r>
            <a:r>
              <a:rPr lang="en-GB" b="1" i="0" dirty="0">
                <a:solidFill>
                  <a:srgbClr val="78350F"/>
                </a:solidFill>
                <a:effectLst/>
                <a:latin typeface="Outfit"/>
              </a:rPr>
              <a:t>16.2% DPD 30+</a:t>
            </a:r>
            <a:r>
              <a:rPr lang="en-GB" b="0" i="0" dirty="0">
                <a:solidFill>
                  <a:srgbClr val="78350F"/>
                </a:solidFill>
                <a:effectLst/>
                <a:latin typeface="Outfit"/>
              </a:rPr>
              <a:t> — nearly </a:t>
            </a:r>
            <a:r>
              <a:rPr lang="en-GB" b="1" i="0" dirty="0">
                <a:solidFill>
                  <a:srgbClr val="78350F"/>
                </a:solidFill>
                <a:effectLst/>
                <a:latin typeface="Outfit"/>
              </a:rPr>
              <a:t>2× the next band</a:t>
            </a:r>
            <a:r>
              <a:rPr lang="en-GB" b="0" i="0" dirty="0">
                <a:solidFill>
                  <a:srgbClr val="78350F"/>
                </a:solidFill>
                <a:effectLst/>
                <a:latin typeface="Outfit"/>
              </a:rPr>
              <a:t>. This band should never have been auto-approved. The scorecard's risk-return calibration was broken by the threshold change.</a:t>
            </a:r>
            <a:endParaRPr lang="en-IN" dirty="0"/>
          </a:p>
        </p:txBody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EA8FDF1E-870E-CF44-63BF-8E89930C8D92}"/>
              </a:ext>
            </a:extLst>
          </p:cNvPr>
          <p:cNvSpPr/>
          <p:nvPr/>
        </p:nvSpPr>
        <p:spPr>
          <a:xfrm>
            <a:off x="5239512" y="1034821"/>
            <a:ext cx="4258056" cy="45719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726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912470-9E76-0AA0-DC16-1E5C86BDD0B6}"/>
              </a:ext>
            </a:extLst>
          </p:cNvPr>
          <p:cNvSpPr txBox="1"/>
          <p:nvPr/>
        </p:nvSpPr>
        <p:spPr>
          <a:xfrm>
            <a:off x="194310" y="161467"/>
            <a:ext cx="10257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1A1A2E"/>
                </a:solidFill>
                <a:effectLst/>
                <a:latin typeface="Outfit"/>
              </a:rPr>
              <a:t>We plot every cohort against how they perform month-by-month. One cohort lit up red — Q2 2024</a:t>
            </a:r>
            <a:r>
              <a:rPr lang="en-GB" b="0" i="0" dirty="0">
                <a:solidFill>
                  <a:srgbClr val="1A1A2E"/>
                </a:solidFill>
                <a:effectLst/>
                <a:latin typeface="Outfit"/>
              </a:rPr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538987-81D8-D0B5-724B-B9414DD29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03" y="807799"/>
            <a:ext cx="8777665" cy="22920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A34A878-21C2-D4D0-59F8-9C8D6798D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094" y="3429000"/>
            <a:ext cx="9059418" cy="30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241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D135B-3481-754B-1E6E-CE318EE2D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F258D1-ABAA-94EE-6697-79BAF2926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5" y="178301"/>
            <a:ext cx="4141166" cy="53355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0EA234-E863-008D-8A5C-E24117A2F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085" y="105148"/>
            <a:ext cx="2879372" cy="55275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C7DBFA-3F19-78C5-B621-D076F8043021}"/>
              </a:ext>
            </a:extLst>
          </p:cNvPr>
          <p:cNvSpPr txBox="1"/>
          <p:nvPr/>
        </p:nvSpPr>
        <p:spPr>
          <a:xfrm>
            <a:off x="8167512" y="320041"/>
            <a:ext cx="315047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GB" b="0" i="0" dirty="0">
                <a:solidFill>
                  <a:srgbClr val="1A1A2E"/>
                </a:solidFill>
                <a:effectLst/>
                <a:latin typeface="Outfit"/>
              </a:rPr>
              <a:t>Sector analysis reveals Food &amp; Beverage and Retail as the stress clusters. Professional services SMEs perform almost perfectly.</a:t>
            </a:r>
          </a:p>
          <a:p>
            <a:pPr>
              <a:buNone/>
            </a:pPr>
            <a:br>
              <a:rPr lang="en-GB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3348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AC69E3-AE69-1E52-EE01-8ECE71EE7832}"/>
              </a:ext>
            </a:extLst>
          </p:cNvPr>
          <p:cNvSpPr txBox="1"/>
          <p:nvPr/>
        </p:nvSpPr>
        <p:spPr>
          <a:xfrm>
            <a:off x="258318" y="29996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GB" b="1" i="0" dirty="0">
                <a:solidFill>
                  <a:srgbClr val="D42B2B"/>
                </a:solidFill>
                <a:effectLst/>
                <a:latin typeface="Fraunces"/>
              </a:rPr>
              <a:t>A Second Problem: We're Unfairly Rejecting Good Businesses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C4AD13-016B-9C52-2951-CE7FBD56D9CF}"/>
              </a:ext>
            </a:extLst>
          </p:cNvPr>
          <p:cNvSpPr txBox="1"/>
          <p:nvPr/>
        </p:nvSpPr>
        <p:spPr>
          <a:xfrm>
            <a:off x="258318" y="669298"/>
            <a:ext cx="11675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5A5773"/>
                </a:solidFill>
                <a:effectLst/>
                <a:latin typeface="Outfit"/>
              </a:rPr>
              <a:t>While investigating the Q2 2024 crisis, the team discovered something else. The scorecard was also hurting businesses that had never borrowed before — but were actually creditworthy.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7F5D58-E23E-5FFA-3A06-C3D67EC7C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73" y="1452323"/>
            <a:ext cx="3870694" cy="12008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2424F8-8794-F402-5576-67FC04C9B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134" y="1452323"/>
            <a:ext cx="3590754" cy="46573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12BF07-8B51-F1CE-E0AC-2005DDA3CD0F}"/>
              </a:ext>
            </a:extLst>
          </p:cNvPr>
          <p:cNvSpPr txBox="1"/>
          <p:nvPr/>
        </p:nvSpPr>
        <p:spPr>
          <a:xfrm>
            <a:off x="235173" y="30596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GB" b="1" i="0" dirty="0">
                <a:solidFill>
                  <a:srgbClr val="FF0000"/>
                </a:solidFill>
                <a:effectLst/>
                <a:latin typeface="Fraunces"/>
              </a:rPr>
              <a:t>How We Risk Manage the Thin-File Problem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E0B1D3-BA73-509F-E883-7F403A17FB7A}"/>
              </a:ext>
            </a:extLst>
          </p:cNvPr>
          <p:cNvSpPr txBox="1"/>
          <p:nvPr/>
        </p:nvSpPr>
        <p:spPr>
          <a:xfrm>
            <a:off x="258318" y="3617005"/>
            <a:ext cx="3590754" cy="128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5"/>
              </a:spcAft>
              <a:buNone/>
            </a:pPr>
            <a:r>
              <a:rPr lang="en-GB" b="1" i="0" dirty="0">
                <a:solidFill>
                  <a:srgbClr val="0F2557"/>
                </a:solidFill>
                <a:effectLst/>
                <a:latin typeface="Outfit"/>
              </a:rPr>
              <a:t>Risk-Based Limits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5A5773"/>
                </a:solidFill>
                <a:effectLst/>
                <a:latin typeface="Outfit"/>
              </a:rPr>
              <a:t>Thin-file approvals get a lower starting limit (₹8.3L–₹20.8L) and 150–200bps higher pricing. A limit step-up mechanism rewards 12 months of good repayment behaviour.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DBCC4-469B-C757-359F-FD3BAC85A0C0}"/>
              </a:ext>
            </a:extLst>
          </p:cNvPr>
          <p:cNvSpPr txBox="1"/>
          <p:nvPr/>
        </p:nvSpPr>
        <p:spPr>
          <a:xfrm>
            <a:off x="4105867" y="3622577"/>
            <a:ext cx="3252978" cy="1497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5"/>
              </a:spcAft>
              <a:buNone/>
            </a:pPr>
            <a:r>
              <a:rPr lang="en-GB" b="1" i="0" dirty="0">
                <a:solidFill>
                  <a:srgbClr val="0F2557"/>
                </a:solidFill>
                <a:effectLst/>
                <a:latin typeface="Outfit"/>
              </a:rPr>
              <a:t>Supplementary Scorecard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5A5773"/>
                </a:solidFill>
                <a:effectLst/>
                <a:latin typeface="Outfit"/>
              </a:rPr>
              <a:t>Build a parallel model for thin-file SMEs using GST compliance, bank statement cash flows, UPI volume, and trade references. Run alongside the main model in shadow mode first.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3976C5-A55D-065B-7AA5-D6FF123E28C3}"/>
              </a:ext>
            </a:extLst>
          </p:cNvPr>
          <p:cNvSpPr txBox="1"/>
          <p:nvPr/>
        </p:nvSpPr>
        <p:spPr>
          <a:xfrm>
            <a:off x="235173" y="5314000"/>
            <a:ext cx="5328666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5"/>
              </a:spcAft>
              <a:buNone/>
            </a:pPr>
            <a:r>
              <a:rPr lang="en-GB" b="1" i="0" dirty="0">
                <a:solidFill>
                  <a:srgbClr val="0F2557"/>
                </a:solidFill>
                <a:effectLst/>
                <a:latin typeface="Outfit"/>
              </a:rPr>
              <a:t>Enhanced Monitoring</a:t>
            </a:r>
          </a:p>
          <a:p>
            <a:pPr algn="l">
              <a:buNone/>
            </a:pPr>
            <a:r>
              <a:rPr lang="en-GB" sz="1400" b="0" i="0" dirty="0">
                <a:solidFill>
                  <a:srgbClr val="5A5773"/>
                </a:solidFill>
                <a:effectLst/>
                <a:latin typeface="Outfit"/>
              </a:rPr>
              <a:t>Thin-file accounts monitored on a biweekly DPD cycle (vs monthly for standard). Early warning at DPD 10+. Collections outreach starts on Day 7 — not Day 30.</a:t>
            </a:r>
          </a:p>
        </p:txBody>
      </p:sp>
    </p:spTree>
    <p:extLst>
      <p:ext uri="{BB962C8B-B14F-4D97-AF65-F5344CB8AC3E}">
        <p14:creationId xmlns:p14="http://schemas.microsoft.com/office/powerpoint/2010/main" val="120636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9951FC-DF4B-8B5B-5968-BE7F56868656}"/>
              </a:ext>
            </a:extLst>
          </p:cNvPr>
          <p:cNvSpPr txBox="1"/>
          <p:nvPr/>
        </p:nvSpPr>
        <p:spPr>
          <a:xfrm>
            <a:off x="350520" y="1290745"/>
            <a:ext cx="1735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GB" b="1" i="0" dirty="0">
                <a:solidFill>
                  <a:srgbClr val="D42B2B"/>
                </a:solidFill>
                <a:effectLst/>
                <a:latin typeface="Fraunces"/>
              </a:rPr>
              <a:t>Key Findings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1758D2-12FD-4D5D-09D8-35249947DDE5}"/>
              </a:ext>
            </a:extLst>
          </p:cNvPr>
          <p:cNvSpPr txBox="1"/>
          <p:nvPr/>
        </p:nvSpPr>
        <p:spPr>
          <a:xfrm>
            <a:off x="350520" y="1695649"/>
            <a:ext cx="117568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"/>
              </a:spcBef>
              <a:buNone/>
            </a:pPr>
            <a:r>
              <a:rPr lang="en-GB" sz="1600" b="1" i="0" dirty="0">
                <a:solidFill>
                  <a:srgbClr val="D42B2B"/>
                </a:solidFill>
                <a:effectLst/>
              </a:rPr>
              <a:t>F1 </a:t>
            </a:r>
            <a:r>
              <a:rPr lang="en-GB" sz="1600" b="0" i="0" dirty="0">
                <a:solidFill>
                  <a:srgbClr val="3D3A4F"/>
                </a:solidFill>
                <a:effectLst/>
              </a:rPr>
              <a:t>The scorecard assigns 35% weight to CIBIL score. For thin-file SMEs, this score is absent or artificially low — causing the model to wrongly classify creditworthy borrowers as high-risk.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2E245A-5568-1127-D486-9798D0DC8EC9}"/>
              </a:ext>
            </a:extLst>
          </p:cNvPr>
          <p:cNvSpPr txBox="1"/>
          <p:nvPr/>
        </p:nvSpPr>
        <p:spPr>
          <a:xfrm>
            <a:off x="391668" y="2279062"/>
            <a:ext cx="116746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"/>
              </a:spcBef>
              <a:buNone/>
            </a:pPr>
            <a:r>
              <a:rPr lang="en-GB" sz="1600" b="1" i="0" dirty="0">
                <a:solidFill>
                  <a:srgbClr val="D42B2B"/>
                </a:solidFill>
                <a:effectLst/>
              </a:rPr>
              <a:t>F2</a:t>
            </a:r>
            <a:r>
              <a:rPr lang="en-GB" sz="1600" b="0" i="0" dirty="0">
                <a:solidFill>
                  <a:srgbClr val="3D3A4F"/>
                </a:solidFill>
                <a:effectLst/>
              </a:rPr>
              <a:t>A back-test of 120 declined thin-file applicants using alternative data (GST, bank statements, trade references) shows </a:t>
            </a:r>
            <a:r>
              <a:rPr lang="en-GB" sz="1600" b="1" i="0" dirty="0">
                <a:solidFill>
                  <a:srgbClr val="1A1A2E"/>
                </a:solidFill>
                <a:effectLst/>
              </a:rPr>
              <a:t>78 would have been creditworthy approvals</a:t>
            </a:r>
            <a:r>
              <a:rPr lang="en-GB" sz="1600" b="0" i="0" dirty="0">
                <a:solidFill>
                  <a:srgbClr val="3D3A4F"/>
                </a:solidFill>
                <a:effectLst/>
              </a:rPr>
              <a:t> — a 65% false-decline rate.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7C6B30-6754-5240-4E8B-4329F54EFA1A}"/>
              </a:ext>
            </a:extLst>
          </p:cNvPr>
          <p:cNvSpPr txBox="1"/>
          <p:nvPr/>
        </p:nvSpPr>
        <p:spPr>
          <a:xfrm>
            <a:off x="382143" y="2923631"/>
            <a:ext cx="1142771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"/>
              </a:spcBef>
              <a:buNone/>
            </a:pPr>
            <a:r>
              <a:rPr lang="en-GB" sz="1600" b="1" i="0" dirty="0">
                <a:solidFill>
                  <a:srgbClr val="D42B2B"/>
                </a:solidFill>
                <a:effectLst/>
              </a:rPr>
              <a:t>F3 </a:t>
            </a:r>
            <a:r>
              <a:rPr lang="en-GB" sz="1600" b="0" i="0" dirty="0">
                <a:solidFill>
                  <a:srgbClr val="3D3A4F"/>
                </a:solidFill>
                <a:effectLst/>
              </a:rPr>
              <a:t>Commercial impact: the thin-file segment is ~22% of SME applicant flow. Systematic declination costs </a:t>
            </a:r>
            <a:r>
              <a:rPr lang="en-GB" sz="1600" b="0" i="0" dirty="0" err="1">
                <a:solidFill>
                  <a:srgbClr val="3D3A4F"/>
                </a:solidFill>
                <a:effectLst/>
              </a:rPr>
              <a:t>NovaSME</a:t>
            </a:r>
            <a:r>
              <a:rPr lang="en-GB" sz="1600" b="0" i="0" dirty="0">
                <a:solidFill>
                  <a:srgbClr val="3D3A4F"/>
                </a:solidFill>
                <a:effectLst/>
              </a:rPr>
              <a:t> an estimated </a:t>
            </a:r>
            <a:r>
              <a:rPr lang="en-GB" sz="1600" b="1" i="0" dirty="0">
                <a:solidFill>
                  <a:srgbClr val="1A1A2E"/>
                </a:solidFill>
                <a:effectLst/>
              </a:rPr>
              <a:t>₹1.5–₹2 Crore in annual foregone NII</a:t>
            </a:r>
            <a:r>
              <a:rPr lang="en-GB" b="0" i="0" dirty="0">
                <a:solidFill>
                  <a:srgbClr val="3D3A4F"/>
                </a:solidFill>
                <a:effectLst/>
                <a:latin typeface="Outfit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76A225-5FA2-6800-0E1B-943D9B4F9B9A}"/>
              </a:ext>
            </a:extLst>
          </p:cNvPr>
          <p:cNvSpPr txBox="1"/>
          <p:nvPr/>
        </p:nvSpPr>
        <p:spPr>
          <a:xfrm>
            <a:off x="391668" y="4156942"/>
            <a:ext cx="117568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"/>
              </a:spcBef>
              <a:buNone/>
            </a:pPr>
            <a:r>
              <a:rPr lang="en-GB" sz="1600" b="1" i="0" dirty="0">
                <a:solidFill>
                  <a:srgbClr val="0F7A4B"/>
                </a:solidFill>
                <a:effectLst/>
              </a:rPr>
              <a:t>R1 </a:t>
            </a:r>
            <a:r>
              <a:rPr lang="en-GB" sz="1600" b="0" i="0" dirty="0">
                <a:solidFill>
                  <a:srgbClr val="3D3A4F"/>
                </a:solidFill>
                <a:effectLst/>
              </a:rPr>
              <a:t>Launch a parallel thin-file supplementary scorecard using GST compliance, 6-month average bank balance, and UPI transaction volume. Run in shadow mode for 90 days.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57B435-C808-4602-3CE6-C5CE886B946B}"/>
              </a:ext>
            </a:extLst>
          </p:cNvPr>
          <p:cNvSpPr txBox="1"/>
          <p:nvPr/>
        </p:nvSpPr>
        <p:spPr>
          <a:xfrm>
            <a:off x="382143" y="3809591"/>
            <a:ext cx="43594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cap="all" dirty="0">
                <a:solidFill>
                  <a:srgbClr val="00B050"/>
                </a:solidFill>
                <a:effectLst/>
                <a:latin typeface="Outfit"/>
              </a:rPr>
              <a:t>Recommendations — Action Required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16713B-1E35-6B56-9281-AD9CEB249230}"/>
              </a:ext>
            </a:extLst>
          </p:cNvPr>
          <p:cNvSpPr txBox="1"/>
          <p:nvPr/>
        </p:nvSpPr>
        <p:spPr>
          <a:xfrm>
            <a:off x="382143" y="4774700"/>
            <a:ext cx="117568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"/>
              </a:spcBef>
              <a:buNone/>
            </a:pPr>
            <a:r>
              <a:rPr lang="en-GB" sz="1600" b="1" i="0" dirty="0">
                <a:solidFill>
                  <a:srgbClr val="0F7A4B"/>
                </a:solidFill>
                <a:effectLst/>
              </a:rPr>
              <a:t>R2 </a:t>
            </a:r>
            <a:r>
              <a:rPr lang="en-GB" sz="1600" b="0" i="0" dirty="0">
                <a:solidFill>
                  <a:srgbClr val="3D3A4F"/>
                </a:solidFill>
                <a:effectLst/>
              </a:rPr>
              <a:t>Establish a weekly Thin-File Manual Review Panel — 2 senior analysts, structured decision template, every declined thin-file case reviewed with documented rationale.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5AE5EC-D1C2-9DAA-2E9C-FC2408CCBFD8}"/>
              </a:ext>
            </a:extLst>
          </p:cNvPr>
          <p:cNvSpPr txBox="1"/>
          <p:nvPr/>
        </p:nvSpPr>
        <p:spPr>
          <a:xfrm>
            <a:off x="382143" y="5450047"/>
            <a:ext cx="121500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"/>
              </a:spcBef>
              <a:buNone/>
            </a:pPr>
            <a:r>
              <a:rPr lang="en-GB" sz="1600" b="1" i="0" dirty="0">
                <a:solidFill>
                  <a:srgbClr val="0F7A4B"/>
                </a:solidFill>
                <a:effectLst/>
              </a:rPr>
              <a:t>R3 </a:t>
            </a:r>
            <a:r>
              <a:rPr lang="en-GB" sz="1600" b="0" i="0" dirty="0">
                <a:solidFill>
                  <a:srgbClr val="3D3A4F"/>
                </a:solidFill>
                <a:effectLst/>
              </a:rPr>
              <a:t>Rebuild the main scorecard — reduce CIBIL weight from 35% to 25%, introduce a bureau thin-file flag, and add GST turnover and bank statement as explicit features.</a:t>
            </a:r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2844DC3A-8A0D-80FB-0E6C-76007EF05119}"/>
              </a:ext>
            </a:extLst>
          </p:cNvPr>
          <p:cNvSpPr/>
          <p:nvPr/>
        </p:nvSpPr>
        <p:spPr>
          <a:xfrm>
            <a:off x="487680" y="268224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A3A8F"/>
                </a:solidFill>
                <a:latin typeface="Calibri" pitchFamily="34" charset="0"/>
                <a:cs typeface="Calibri" pitchFamily="34" charset="-120"/>
              </a:rPr>
              <a:t>Overview With Senior Credit Committee</a:t>
            </a:r>
            <a:endParaRPr lang="en-US" sz="2933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7CD1D524-814D-A8D5-DDAC-3A1DD3BB0360}"/>
              </a:ext>
            </a:extLst>
          </p:cNvPr>
          <p:cNvSpPr/>
          <p:nvPr/>
        </p:nvSpPr>
        <p:spPr>
          <a:xfrm>
            <a:off x="350520" y="1048369"/>
            <a:ext cx="10960608" cy="63867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4DD312-7B92-D38A-EF4F-C5B877034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78" y="901479"/>
            <a:ext cx="6984798" cy="30443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09B5D7-F41E-5359-1E60-CEAA30D4D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78" y="3945847"/>
            <a:ext cx="7074264" cy="2800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525C9A-8E64-A532-BA18-97B67740A97C}"/>
              </a:ext>
            </a:extLst>
          </p:cNvPr>
          <p:cNvSpPr txBox="1"/>
          <p:nvPr/>
        </p:nvSpPr>
        <p:spPr>
          <a:xfrm>
            <a:off x="8037576" y="1903186"/>
            <a:ext cx="4078224" cy="3857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GB" b="1" i="0" dirty="0">
                <a:solidFill>
                  <a:srgbClr val="0F2557"/>
                </a:solidFill>
                <a:effectLst/>
                <a:latin typeface="Fraunces"/>
              </a:rPr>
              <a:t>5 signals that make us review and change the coefficient-</a:t>
            </a:r>
          </a:p>
          <a:p>
            <a:pPr marL="285750" indent="-285750">
              <a:spcAft>
                <a:spcPts val="750"/>
              </a:spcAft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F2557"/>
                </a:solidFill>
                <a:latin typeface="Outfit"/>
              </a:rPr>
              <a:t>Cure rate falls</a:t>
            </a:r>
          </a:p>
          <a:p>
            <a:pPr marL="285750" indent="-285750">
              <a:spcAft>
                <a:spcPts val="750"/>
              </a:spcAft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F2557"/>
                </a:solidFill>
                <a:latin typeface="Outfit"/>
              </a:rPr>
              <a:t>DPD 30+ rate crosses</a:t>
            </a:r>
          </a:p>
          <a:p>
            <a:pPr marL="285750" indent="-285750">
              <a:spcAft>
                <a:spcPts val="750"/>
              </a:spcAft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0F2557"/>
                </a:solidFill>
                <a:latin typeface="Outfit"/>
              </a:rPr>
              <a:t>Too many accounts moving to worse stages.</a:t>
            </a:r>
          </a:p>
          <a:p>
            <a:pPr marL="285750" indent="-285750">
              <a:spcAft>
                <a:spcPts val="750"/>
              </a:spcAft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0F2557"/>
                </a:solidFill>
                <a:latin typeface="Outfit"/>
              </a:rPr>
              <a:t>Actual losses exceed what the model predicted</a:t>
            </a:r>
            <a:endParaRPr lang="en-IN" dirty="0"/>
          </a:p>
          <a:p>
            <a:pPr>
              <a:spcAft>
                <a:spcPts val="750"/>
              </a:spcAft>
            </a:pPr>
            <a:endParaRPr lang="en-IN" dirty="0"/>
          </a:p>
          <a:p>
            <a:pPr>
              <a:spcAft>
                <a:spcPts val="750"/>
              </a:spcAft>
            </a:pPr>
            <a:endParaRPr lang="en-IN" dirty="0"/>
          </a:p>
          <a:p>
            <a:pPr algn="l">
              <a:spcAft>
                <a:spcPts val="750"/>
              </a:spcAft>
              <a:buNone/>
            </a:pPr>
            <a:endParaRPr lang="en-GB" b="1" i="0" dirty="0">
              <a:solidFill>
                <a:srgbClr val="0F2557"/>
              </a:solidFill>
              <a:effectLst/>
              <a:latin typeface="Fraunces"/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7D969E6B-9F50-1C72-4B69-281EE2A11B64}"/>
              </a:ext>
            </a:extLst>
          </p:cNvPr>
          <p:cNvSpPr/>
          <p:nvPr/>
        </p:nvSpPr>
        <p:spPr>
          <a:xfrm>
            <a:off x="366978" y="111659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A3A8F"/>
                </a:solidFill>
                <a:latin typeface="Calibri" pitchFamily="34" charset="0"/>
                <a:cs typeface="Calibri" pitchFamily="34" charset="-120"/>
              </a:rPr>
              <a:t>Provisioning Coefficients for the loan Portfolio</a:t>
            </a:r>
            <a:endParaRPr lang="en-US" sz="2933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F728CCFC-3473-A32C-B1EB-C66BF1BBBE7B}"/>
              </a:ext>
            </a:extLst>
          </p:cNvPr>
          <p:cNvSpPr/>
          <p:nvPr/>
        </p:nvSpPr>
        <p:spPr>
          <a:xfrm>
            <a:off x="229818" y="891804"/>
            <a:ext cx="10960608" cy="63867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852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304DBA-27CA-EC3B-9D2A-D71857F64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5C15A8-2CE6-93E2-D5DE-FA8C5F434EA9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C3FE0A-2C9A-D182-657E-1977DB19E550}"/>
              </a:ext>
            </a:extLst>
          </p:cNvPr>
          <p:cNvSpPr/>
          <p:nvPr/>
        </p:nvSpPr>
        <p:spPr>
          <a:xfrm>
            <a:off x="487680" y="1950720"/>
            <a:ext cx="243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F3804B-2E9D-17A3-0F00-834C91E192CC}"/>
              </a:ext>
            </a:extLst>
          </p:cNvPr>
          <p:cNvSpPr/>
          <p:nvPr/>
        </p:nvSpPr>
        <p:spPr>
          <a:xfrm>
            <a:off x="487680" y="2560320"/>
            <a:ext cx="11216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Credit Risk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52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2617D0-84E0-858A-EC7C-C63B1156B427}"/>
              </a:ext>
            </a:extLst>
          </p:cNvPr>
          <p:cNvSpPr txBox="1"/>
          <p:nvPr/>
        </p:nvSpPr>
        <p:spPr>
          <a:xfrm>
            <a:off x="365760" y="1292929"/>
            <a:ext cx="11336274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</a:pPr>
            <a:r>
              <a:rPr lang="en-GB" b="1" dirty="0"/>
              <a:t>Case Study (Assumption) : </a:t>
            </a:r>
            <a:r>
              <a:rPr lang="en-GB" sz="1700" dirty="0"/>
              <a:t>Tide India holds member current account funds and operational capital across three Tier-2 banks. This is normal — diversification reduces concentration risk. Until one morning in March 2025.</a:t>
            </a:r>
          </a:p>
          <a:p>
            <a:pPr>
              <a:spcAft>
                <a:spcPts val="750"/>
              </a:spcAft>
            </a:pPr>
            <a:r>
              <a:rPr lang="en-GB" b="1" i="0" dirty="0">
                <a:solidFill>
                  <a:srgbClr val="0F2557"/>
                </a:solidFill>
                <a:effectLst/>
                <a:latin typeface="Fraunces"/>
              </a:rPr>
              <a:t>Bank A – Karur Vysya Bank, Tide deposit 140 Cr. (AA)</a:t>
            </a:r>
          </a:p>
          <a:p>
            <a:pPr>
              <a:spcAft>
                <a:spcPts val="750"/>
              </a:spcAft>
            </a:pPr>
            <a:r>
              <a:rPr lang="en-GB" b="1" dirty="0">
                <a:solidFill>
                  <a:srgbClr val="0F2557"/>
                </a:solidFill>
                <a:latin typeface="Fraunces"/>
              </a:rPr>
              <a:t>Bank B – City Union Bank, Tide deposit 180 Cr. – (Downgraded AA to A+)</a:t>
            </a:r>
          </a:p>
          <a:p>
            <a:pPr>
              <a:spcAft>
                <a:spcPts val="750"/>
              </a:spcAft>
            </a:pPr>
            <a:r>
              <a:rPr lang="en-GB" b="1" i="0" dirty="0">
                <a:solidFill>
                  <a:srgbClr val="0F2557"/>
                </a:solidFill>
                <a:effectLst/>
                <a:latin typeface="Fraunces"/>
              </a:rPr>
              <a:t>Bank C – South India Bank</a:t>
            </a:r>
            <a:r>
              <a:rPr lang="en-GB" b="1" dirty="0">
                <a:solidFill>
                  <a:srgbClr val="0F2557"/>
                </a:solidFill>
                <a:latin typeface="Fraunces"/>
              </a:rPr>
              <a:t>, Tide deposit 100 Cr. (A+)</a:t>
            </a:r>
          </a:p>
          <a:p>
            <a:pPr>
              <a:spcAft>
                <a:spcPts val="750"/>
              </a:spcAft>
            </a:pPr>
            <a:r>
              <a:rPr lang="en-GB" sz="1700" b="1" dirty="0"/>
              <a:t>ICRA has downgraded City Union Bank from AA to A+</a:t>
            </a:r>
            <a:r>
              <a:rPr lang="en-GB" sz="1700" dirty="0"/>
              <a:t> with a "Negative Outlook." The reason cited: rising GNPA (Gross Non-Performing Assets) ratio, pressure on net interest margins, and concerns about the bank's commercial real estate loan book. Tide has </a:t>
            </a:r>
            <a:r>
              <a:rPr lang="en-GB" sz="1700" b="1" dirty="0"/>
              <a:t>₹180 Crore</a:t>
            </a:r>
            <a:r>
              <a:rPr lang="en-GB" sz="1700" dirty="0"/>
              <a:t> deposited here — </a:t>
            </a:r>
            <a:r>
              <a:rPr lang="en-GB" sz="1700" b="1" dirty="0"/>
              <a:t>43% of its total India banking exposure.</a:t>
            </a:r>
            <a:endParaRPr lang="en-GB" sz="1700" b="1" i="0" dirty="0">
              <a:solidFill>
                <a:srgbClr val="0F2557"/>
              </a:solidFill>
              <a:effectLst/>
              <a:latin typeface="Fraunce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8D01C7-3ABE-DFB8-5135-33AEFFA3A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356488"/>
            <a:ext cx="6883754" cy="15494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3C7FE1-F189-760B-AE18-ADE992C58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14" y="5905968"/>
            <a:ext cx="6735208" cy="406421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E97EEEF3-308A-61DE-51B0-9152B10B9236}"/>
              </a:ext>
            </a:extLst>
          </p:cNvPr>
          <p:cNvSpPr/>
          <p:nvPr/>
        </p:nvSpPr>
        <p:spPr>
          <a:xfrm>
            <a:off x="366978" y="111659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A3A8F"/>
                </a:solidFill>
                <a:latin typeface="Calibri" pitchFamily="34" charset="0"/>
                <a:cs typeface="Calibri" pitchFamily="34" charset="-120"/>
              </a:rPr>
              <a:t>Wholesale Credit Risk</a:t>
            </a:r>
            <a:endParaRPr lang="en-US" sz="2933" dirty="0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5A9AA745-B1C6-9BCE-F8EA-9E9A00182061}"/>
              </a:ext>
            </a:extLst>
          </p:cNvPr>
          <p:cNvSpPr/>
          <p:nvPr/>
        </p:nvSpPr>
        <p:spPr>
          <a:xfrm>
            <a:off x="229818" y="891804"/>
            <a:ext cx="10960608" cy="63867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129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305F59E-1586-DBDC-98CE-385F4CAB66A6}"/>
              </a:ext>
            </a:extLst>
          </p:cNvPr>
          <p:cNvSpPr txBox="1"/>
          <p:nvPr/>
        </p:nvSpPr>
        <p:spPr>
          <a:xfrm>
            <a:off x="358902" y="2766144"/>
            <a:ext cx="11345418" cy="3731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750"/>
              </a:spcAft>
              <a:buNone/>
            </a:pPr>
            <a:r>
              <a:rPr lang="en-GB" b="1" i="0" cap="all" dirty="0">
                <a:solidFill>
                  <a:srgbClr val="00B050"/>
                </a:solidFill>
                <a:effectLst/>
                <a:latin typeface="Outfit"/>
              </a:rPr>
              <a:t>What Tide Should Do — Recommendation</a:t>
            </a:r>
          </a:p>
          <a:p>
            <a:pPr algn="l">
              <a:spcBef>
                <a:spcPts val="75"/>
              </a:spcBef>
              <a:spcAft>
                <a:spcPts val="600"/>
              </a:spcAft>
              <a:buNone/>
            </a:pPr>
            <a:r>
              <a:rPr lang="en-GB" sz="1600" b="1" i="0" dirty="0">
                <a:solidFill>
                  <a:srgbClr val="065F46"/>
                </a:solidFill>
                <a:effectLst/>
              </a:rPr>
              <a:t>R1 </a:t>
            </a:r>
            <a:r>
              <a:rPr lang="en-GB" sz="1600" b="1" i="0" dirty="0">
                <a:solidFill>
                  <a:srgbClr val="1C1917"/>
                </a:solidFill>
                <a:effectLst/>
              </a:rPr>
              <a:t>Immediately reduce exposure from ₹180 Crore to ₹100 Crore over 90 days</a:t>
            </a:r>
            <a:r>
              <a:rPr lang="en-GB" sz="1600" b="0" i="0" dirty="0">
                <a:solidFill>
                  <a:srgbClr val="44403C"/>
                </a:solidFill>
                <a:effectLst/>
              </a:rPr>
              <a:t> by not renewing maturing fixed deposits and where necessary accepting premature closure costs (estimated ₹40–60 Lakh).</a:t>
            </a:r>
          </a:p>
          <a:p>
            <a:pPr algn="l">
              <a:spcBef>
                <a:spcPts val="75"/>
              </a:spcBef>
              <a:spcAft>
                <a:spcPts val="600"/>
              </a:spcAft>
              <a:buNone/>
            </a:pPr>
            <a:endParaRPr lang="en-GB" sz="1600" b="0" i="0" dirty="0">
              <a:solidFill>
                <a:srgbClr val="44403C"/>
              </a:solidFill>
              <a:effectLst/>
            </a:endParaRPr>
          </a:p>
          <a:p>
            <a:pPr algn="l">
              <a:spcBef>
                <a:spcPts val="75"/>
              </a:spcBef>
              <a:spcAft>
                <a:spcPts val="600"/>
              </a:spcAft>
              <a:buNone/>
            </a:pPr>
            <a:r>
              <a:rPr lang="en-GB" sz="1600" b="1" i="0" dirty="0">
                <a:solidFill>
                  <a:srgbClr val="065F46"/>
                </a:solidFill>
                <a:effectLst/>
              </a:rPr>
              <a:t>R2 </a:t>
            </a:r>
            <a:r>
              <a:rPr lang="en-GB" sz="1600" b="1" i="0" dirty="0">
                <a:solidFill>
                  <a:srgbClr val="1C1917"/>
                </a:solidFill>
                <a:effectLst/>
              </a:rPr>
              <a:t>Redeploy the ₹80 Crore to Karur Vysya Bank (ICRA AA, stable outlook)</a:t>
            </a:r>
            <a:r>
              <a:rPr lang="en-GB" sz="1600" b="0" i="0" dirty="0">
                <a:solidFill>
                  <a:srgbClr val="44403C"/>
                </a:solidFill>
                <a:effectLst/>
              </a:rPr>
              <a:t> — already a counterparty we know. This restores our concentration to 24% and eliminates the policy breach.</a:t>
            </a:r>
          </a:p>
          <a:p>
            <a:pPr algn="l">
              <a:spcBef>
                <a:spcPts val="75"/>
              </a:spcBef>
              <a:spcAft>
                <a:spcPts val="600"/>
              </a:spcAft>
              <a:buNone/>
            </a:pPr>
            <a:endParaRPr lang="en-GB" sz="1600" b="0" i="0" dirty="0">
              <a:solidFill>
                <a:srgbClr val="44403C"/>
              </a:solidFill>
              <a:effectLst/>
            </a:endParaRPr>
          </a:p>
          <a:p>
            <a:pPr algn="l">
              <a:spcBef>
                <a:spcPts val="75"/>
              </a:spcBef>
              <a:spcAft>
                <a:spcPts val="600"/>
              </a:spcAft>
              <a:buNone/>
            </a:pPr>
            <a:r>
              <a:rPr lang="en-GB" sz="1600" b="1" i="0" dirty="0">
                <a:solidFill>
                  <a:srgbClr val="065F46"/>
                </a:solidFill>
                <a:effectLst/>
              </a:rPr>
              <a:t>R3 </a:t>
            </a:r>
            <a:r>
              <a:rPr lang="en-GB" sz="1600" b="1" i="0" dirty="0">
                <a:solidFill>
                  <a:srgbClr val="1C1917"/>
                </a:solidFill>
                <a:effectLst/>
              </a:rPr>
              <a:t>Place City Union Bank on Enhanced Watch</a:t>
            </a:r>
            <a:r>
              <a:rPr lang="en-GB" sz="1600" b="0" i="0" dirty="0">
                <a:solidFill>
                  <a:srgbClr val="44403C"/>
                </a:solidFill>
                <a:effectLst/>
              </a:rPr>
              <a:t> — monthly financial review instead of quarterly. Trigger a full Exit decision if: (a) GNPA crosses 7%, (b) ICRA downgrades to A, or (c) RBI issues corrective action.</a:t>
            </a:r>
          </a:p>
          <a:p>
            <a:pPr algn="l">
              <a:spcBef>
                <a:spcPts val="75"/>
              </a:spcBef>
              <a:spcAft>
                <a:spcPts val="600"/>
              </a:spcAft>
              <a:buNone/>
            </a:pPr>
            <a:endParaRPr lang="en-GB" sz="1600" b="0" i="0" dirty="0">
              <a:solidFill>
                <a:srgbClr val="44403C"/>
              </a:solidFill>
              <a:effectLst/>
            </a:endParaRPr>
          </a:p>
          <a:p>
            <a:pPr algn="l">
              <a:spcBef>
                <a:spcPts val="75"/>
              </a:spcBef>
              <a:spcAft>
                <a:spcPts val="600"/>
              </a:spcAft>
              <a:buNone/>
            </a:pPr>
            <a:r>
              <a:rPr lang="en-GB" sz="1600" b="1" i="0" dirty="0">
                <a:solidFill>
                  <a:srgbClr val="065F46"/>
                </a:solidFill>
                <a:effectLst/>
              </a:rPr>
              <a:t>R4 </a:t>
            </a:r>
            <a:r>
              <a:rPr lang="en-GB" sz="1600" b="1" i="0" dirty="0">
                <a:solidFill>
                  <a:srgbClr val="1C1917"/>
                </a:solidFill>
                <a:effectLst/>
              </a:rPr>
              <a:t>Review all three bank counterparty limits</a:t>
            </a:r>
            <a:r>
              <a:rPr lang="en-GB" sz="1600" b="0" i="0" dirty="0">
                <a:solidFill>
                  <a:srgbClr val="44403C"/>
                </a:solidFill>
                <a:effectLst/>
              </a:rPr>
              <a:t> at the next Board Risk Committee — tighten concentration limit from 35% to 30% per bank, and require a minimum ICRA A+ (Stable) for any new deposits.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2F255-5CC9-874B-4CC6-50875A93BA2A}"/>
              </a:ext>
            </a:extLst>
          </p:cNvPr>
          <p:cNvSpPr txBox="1"/>
          <p:nvPr/>
        </p:nvSpPr>
        <p:spPr>
          <a:xfrm>
            <a:off x="358902" y="20034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cap="all" dirty="0">
                <a:solidFill>
                  <a:srgbClr val="FF0000"/>
                </a:solidFill>
                <a:effectLst/>
                <a:latin typeface="Outfit"/>
              </a:rPr>
              <a:t>Key Risk Findings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89B3C8-28E9-6CA6-0D27-F8F81F33737B}"/>
              </a:ext>
            </a:extLst>
          </p:cNvPr>
          <p:cNvSpPr txBox="1"/>
          <p:nvPr/>
        </p:nvSpPr>
        <p:spPr>
          <a:xfrm>
            <a:off x="358902" y="751488"/>
            <a:ext cx="113454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"/>
              </a:spcBef>
              <a:buNone/>
            </a:pPr>
            <a:r>
              <a:rPr lang="en-GB" b="1" i="0" dirty="0">
                <a:solidFill>
                  <a:srgbClr val="B91C1C"/>
                </a:solidFill>
                <a:effectLst/>
                <a:latin typeface="JetBrains Mono"/>
              </a:rPr>
              <a:t>F1 </a:t>
            </a:r>
            <a:r>
              <a:rPr lang="en-GB" b="0" i="0" dirty="0">
                <a:solidFill>
                  <a:srgbClr val="44403C"/>
                </a:solidFill>
                <a:effectLst/>
                <a:latin typeface="Outfit"/>
              </a:rPr>
              <a:t>Bank's GNPA ratio has deteriorated from 3.4% (FY23) to </a:t>
            </a:r>
            <a:r>
              <a:rPr lang="en-GB" b="1" i="0" dirty="0">
                <a:solidFill>
                  <a:srgbClr val="1C1917"/>
                </a:solidFill>
                <a:effectLst/>
                <a:latin typeface="Outfit"/>
              </a:rPr>
              <a:t>5.8% (FY25)</a:t>
            </a:r>
            <a:r>
              <a:rPr lang="en-GB" b="0" i="0" dirty="0">
                <a:solidFill>
                  <a:srgbClr val="44403C"/>
                </a:solidFill>
                <a:effectLst/>
                <a:latin typeface="Outfit"/>
              </a:rPr>
              <a:t> — above RBI's comfort threshold. Commercial real estate loans (22% of book) are the primary driver of stress.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5E5A3B-D4BB-2C6A-95B0-590F529781FC}"/>
              </a:ext>
            </a:extLst>
          </p:cNvPr>
          <p:cNvSpPr txBox="1"/>
          <p:nvPr/>
        </p:nvSpPr>
        <p:spPr>
          <a:xfrm>
            <a:off x="358902" y="1579630"/>
            <a:ext cx="114705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"/>
              </a:spcBef>
              <a:buNone/>
            </a:pPr>
            <a:r>
              <a:rPr lang="en-GB" b="1" i="0" dirty="0">
                <a:solidFill>
                  <a:srgbClr val="B91C1C"/>
                </a:solidFill>
                <a:effectLst/>
                <a:latin typeface="JetBrains Mono"/>
              </a:rPr>
              <a:t>F2 </a:t>
            </a:r>
            <a:r>
              <a:rPr lang="en-GB" b="1" i="0" dirty="0">
                <a:solidFill>
                  <a:srgbClr val="1C1917"/>
                </a:solidFill>
                <a:effectLst/>
                <a:latin typeface="Outfit"/>
              </a:rPr>
              <a:t>Negative Outlook</a:t>
            </a:r>
            <a:r>
              <a:rPr lang="en-GB" b="0" i="0" dirty="0">
                <a:solidFill>
                  <a:srgbClr val="44403C"/>
                </a:solidFill>
                <a:effectLst/>
                <a:latin typeface="Outfit"/>
              </a:rPr>
              <a:t> signals ICRA may cut the rating again in 12–18 months. If the bank reaches A rating, our policy would require a full exit — potentially under less favourable liquidity conditions than today.</a:t>
            </a:r>
          </a:p>
        </p:txBody>
      </p:sp>
    </p:spTree>
    <p:extLst>
      <p:ext uri="{BB962C8B-B14F-4D97-AF65-F5344CB8AC3E}">
        <p14:creationId xmlns:p14="http://schemas.microsoft.com/office/powerpoint/2010/main" val="3255216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1A36CE-750D-F8D3-5528-1E811706A798}"/>
              </a:ext>
            </a:extLst>
          </p:cNvPr>
          <p:cNvSpPr txBox="1"/>
          <p:nvPr/>
        </p:nvSpPr>
        <p:spPr>
          <a:xfrm>
            <a:off x="492893" y="1217040"/>
            <a:ext cx="4783756" cy="3259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IN" b="1" i="0" dirty="0">
                <a:solidFill>
                  <a:srgbClr val="065F46"/>
                </a:solidFill>
                <a:effectLst/>
                <a:latin typeface="Fraunces"/>
              </a:rPr>
              <a:t>Option A - Reduce ✓ Recommended</a:t>
            </a:r>
          </a:p>
          <a:p>
            <a:pPr algn="l">
              <a:spcAft>
                <a:spcPts val="900"/>
              </a:spcAft>
              <a:buNone/>
            </a:pPr>
            <a:r>
              <a:rPr lang="en-IN" b="0" i="0" dirty="0">
                <a:solidFill>
                  <a:srgbClr val="78716C"/>
                </a:solidFill>
                <a:effectLst/>
                <a:latin typeface="Outfit"/>
              </a:rPr>
              <a:t>Reduce from ₹180 Cr to ₹100 Cr over 90 days.</a:t>
            </a:r>
          </a:p>
          <a:p>
            <a:pPr algn="l">
              <a:spcAft>
                <a:spcPts val="450"/>
              </a:spcAft>
              <a:buNone/>
            </a:pPr>
            <a:r>
              <a:rPr lang="en-IN" b="1" i="0" dirty="0">
                <a:solidFill>
                  <a:srgbClr val="065F46"/>
                </a:solidFill>
                <a:effectLst/>
                <a:latin typeface="Outfit"/>
              </a:rPr>
              <a:t>Pros</a:t>
            </a:r>
            <a:br>
              <a:rPr lang="en-IN" b="0" i="0" dirty="0">
                <a:solidFill>
                  <a:srgbClr val="44403C"/>
                </a:solidFill>
                <a:effectLst/>
                <a:latin typeface="Outfit"/>
              </a:rPr>
            </a:br>
            <a:r>
              <a:rPr lang="en-IN" b="0" i="0" dirty="0">
                <a:solidFill>
                  <a:srgbClr val="44403C"/>
                </a:solidFill>
                <a:effectLst/>
                <a:latin typeface="Outfit"/>
              </a:rPr>
              <a:t>• Phased — minimises premature FD penalty</a:t>
            </a:r>
            <a:br>
              <a:rPr lang="en-IN" b="0" i="0" dirty="0">
                <a:solidFill>
                  <a:srgbClr val="44403C"/>
                </a:solidFill>
                <a:effectLst/>
                <a:latin typeface="Outfit"/>
              </a:rPr>
            </a:br>
            <a:r>
              <a:rPr lang="en-IN" b="0" i="0" dirty="0">
                <a:solidFill>
                  <a:srgbClr val="44403C"/>
                </a:solidFill>
                <a:effectLst/>
                <a:latin typeface="Outfit"/>
              </a:rPr>
              <a:t>• Bank remains viable — no panic withdrawal</a:t>
            </a:r>
            <a:br>
              <a:rPr lang="en-IN" b="0" i="0" dirty="0">
                <a:solidFill>
                  <a:srgbClr val="44403C"/>
                </a:solidFill>
                <a:effectLst/>
                <a:latin typeface="Outfit"/>
              </a:rPr>
            </a:br>
            <a:r>
              <a:rPr lang="en-IN" b="0" i="0" dirty="0">
                <a:solidFill>
                  <a:srgbClr val="44403C"/>
                </a:solidFill>
                <a:effectLst/>
                <a:latin typeface="Outfit"/>
              </a:rPr>
              <a:t>• Redeploy ₹80 Cr to higher-rated bank</a:t>
            </a:r>
          </a:p>
          <a:p>
            <a:pPr algn="l">
              <a:spcAft>
                <a:spcPts val="450"/>
              </a:spcAft>
              <a:buNone/>
            </a:pPr>
            <a:r>
              <a:rPr lang="en-IN" b="1" i="0" dirty="0">
                <a:solidFill>
                  <a:srgbClr val="B91C1C"/>
                </a:solidFill>
                <a:effectLst/>
                <a:latin typeface="Outfit"/>
              </a:rPr>
              <a:t>Cons</a:t>
            </a:r>
          </a:p>
          <a:p>
            <a:pPr algn="l">
              <a:buNone/>
            </a:pPr>
            <a:r>
              <a:rPr lang="en-IN" b="0" i="0" dirty="0">
                <a:solidFill>
                  <a:srgbClr val="44403C"/>
                </a:solidFill>
                <a:effectLst/>
                <a:latin typeface="Outfit"/>
              </a:rPr>
              <a:t>• Some FD premature closure cost (~₹40–60L)</a:t>
            </a:r>
            <a:br>
              <a:rPr lang="en-IN" b="0" i="0" dirty="0">
                <a:solidFill>
                  <a:srgbClr val="44403C"/>
                </a:solidFill>
                <a:effectLst/>
                <a:latin typeface="Outfit"/>
              </a:rPr>
            </a:br>
            <a:r>
              <a:rPr lang="en-IN" b="0" i="0" dirty="0">
                <a:solidFill>
                  <a:srgbClr val="44403C"/>
                </a:solidFill>
                <a:effectLst/>
                <a:latin typeface="Outfit"/>
              </a:rPr>
              <a:t>• Retains ₹100 Cr at A+ rated bank</a:t>
            </a:r>
          </a:p>
          <a:p>
            <a:pPr algn="l">
              <a:spcBef>
                <a:spcPts val="900"/>
              </a:spcBef>
              <a:buNone/>
            </a:pPr>
            <a:r>
              <a:rPr lang="en-IN" b="1" i="0" dirty="0">
                <a:solidFill>
                  <a:srgbClr val="065F46"/>
                </a:solidFill>
                <a:effectLst/>
                <a:latin typeface="Outfit"/>
              </a:rPr>
              <a:t>✓ Our Recommendation</a:t>
            </a:r>
            <a:endParaRPr lang="en-IN" b="0" i="0" dirty="0">
              <a:solidFill>
                <a:srgbClr val="1C1917"/>
              </a:solidFill>
              <a:effectLst/>
              <a:latin typeface="Outfi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9141B-F325-1D1B-664D-579E109E9A56}"/>
              </a:ext>
            </a:extLst>
          </p:cNvPr>
          <p:cNvSpPr txBox="1"/>
          <p:nvPr/>
        </p:nvSpPr>
        <p:spPr>
          <a:xfrm>
            <a:off x="492893" y="5399053"/>
            <a:ext cx="112062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64E3B"/>
                </a:solidFill>
                <a:effectLst/>
                <a:latin typeface="Outfit"/>
              </a:rPr>
              <a:t>Reduce Tide's exposure from </a:t>
            </a:r>
            <a:r>
              <a:rPr lang="en-IN" b="1" i="0" dirty="0">
                <a:solidFill>
                  <a:srgbClr val="064E3B"/>
                </a:solidFill>
                <a:effectLst/>
                <a:latin typeface="Outfit"/>
              </a:rPr>
              <a:t>₹180 Crore to ₹100 Crore over 90 days</a:t>
            </a:r>
            <a:r>
              <a:rPr lang="en-IN" b="0" i="0" dirty="0">
                <a:solidFill>
                  <a:srgbClr val="064E3B"/>
                </a:solidFill>
                <a:effectLst/>
                <a:latin typeface="Outfit"/>
              </a:rPr>
              <a:t>. Redeploy the ₹80 Crore to Karur Vysya Bank (AA rated)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B39BBC-9C8E-80D0-4BEA-58BC8A7BBB49}"/>
              </a:ext>
            </a:extLst>
          </p:cNvPr>
          <p:cNvSpPr txBox="1"/>
          <p:nvPr/>
        </p:nvSpPr>
        <p:spPr>
          <a:xfrm>
            <a:off x="6095999" y="1294574"/>
            <a:ext cx="6097604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IN" b="1" i="0" dirty="0">
                <a:solidFill>
                  <a:srgbClr val="0C1E35"/>
                </a:solidFill>
                <a:effectLst/>
                <a:latin typeface="Fraunces"/>
              </a:rPr>
              <a:t>Option B — Exit</a:t>
            </a:r>
          </a:p>
          <a:p>
            <a:pPr algn="l">
              <a:spcAft>
                <a:spcPts val="900"/>
              </a:spcAft>
              <a:buNone/>
            </a:pPr>
            <a:r>
              <a:rPr lang="en-IN" b="0" i="0" dirty="0">
                <a:solidFill>
                  <a:srgbClr val="78716C"/>
                </a:solidFill>
                <a:effectLst/>
                <a:latin typeface="Outfit"/>
              </a:rPr>
              <a:t>Withdraw all ₹180 Crore immediately.</a:t>
            </a:r>
          </a:p>
          <a:p>
            <a:pPr algn="l">
              <a:spcAft>
                <a:spcPts val="450"/>
              </a:spcAft>
              <a:buNone/>
            </a:pPr>
            <a:r>
              <a:rPr lang="en-IN" b="1" i="0" dirty="0">
                <a:solidFill>
                  <a:srgbClr val="065F46"/>
                </a:solidFill>
                <a:effectLst/>
                <a:latin typeface="Outfit"/>
              </a:rPr>
              <a:t>Pros</a:t>
            </a:r>
          </a:p>
          <a:p>
            <a:pPr algn="l">
              <a:spcAft>
                <a:spcPts val="750"/>
              </a:spcAft>
              <a:buNone/>
            </a:pPr>
            <a:r>
              <a:rPr lang="en-IN" b="0" i="0" dirty="0">
                <a:solidFill>
                  <a:srgbClr val="44403C"/>
                </a:solidFill>
                <a:effectLst/>
                <a:latin typeface="Outfit"/>
              </a:rPr>
              <a:t>• Zero concentration at this bank</a:t>
            </a:r>
            <a:br>
              <a:rPr lang="en-IN" b="0" i="0" dirty="0">
                <a:solidFill>
                  <a:srgbClr val="44403C"/>
                </a:solidFill>
                <a:effectLst/>
                <a:latin typeface="Outfit"/>
              </a:rPr>
            </a:br>
            <a:r>
              <a:rPr lang="en-IN" b="0" i="0" dirty="0">
                <a:solidFill>
                  <a:srgbClr val="44403C"/>
                </a:solidFill>
                <a:effectLst/>
                <a:latin typeface="Outfit"/>
              </a:rPr>
              <a:t>• Maximum risk elimination</a:t>
            </a:r>
          </a:p>
          <a:p>
            <a:pPr algn="l">
              <a:spcAft>
                <a:spcPts val="450"/>
              </a:spcAft>
              <a:buNone/>
            </a:pPr>
            <a:r>
              <a:rPr lang="en-IN" b="1" i="0" dirty="0">
                <a:solidFill>
                  <a:srgbClr val="B91C1C"/>
                </a:solidFill>
                <a:effectLst/>
                <a:latin typeface="Outfit"/>
              </a:rPr>
              <a:t>Cons</a:t>
            </a:r>
          </a:p>
          <a:p>
            <a:pPr algn="l">
              <a:buNone/>
            </a:pPr>
            <a:r>
              <a:rPr lang="en-IN" b="0" i="0" dirty="0">
                <a:solidFill>
                  <a:srgbClr val="44403C"/>
                </a:solidFill>
                <a:effectLst/>
                <a:latin typeface="Outfit"/>
              </a:rPr>
              <a:t>• Large premature FD penalties (~₹2–3 Crore)</a:t>
            </a:r>
            <a:br>
              <a:rPr lang="en-IN" b="0" i="0" dirty="0">
                <a:solidFill>
                  <a:srgbClr val="44403C"/>
                </a:solidFill>
                <a:effectLst/>
                <a:latin typeface="Outfit"/>
              </a:rPr>
            </a:br>
            <a:r>
              <a:rPr lang="en-IN" b="0" i="0" dirty="0">
                <a:solidFill>
                  <a:srgbClr val="44403C"/>
                </a:solidFill>
                <a:effectLst/>
                <a:latin typeface="Outfit"/>
              </a:rPr>
              <a:t>• Bank is still rated A+ — exit feels premature</a:t>
            </a:r>
            <a:br>
              <a:rPr lang="en-IN" b="0" i="0" dirty="0">
                <a:solidFill>
                  <a:srgbClr val="44403C"/>
                </a:solidFill>
                <a:effectLst/>
                <a:latin typeface="Outfit"/>
              </a:rPr>
            </a:br>
            <a:endParaRPr lang="en-IN" b="0" i="0" dirty="0">
              <a:solidFill>
                <a:srgbClr val="44403C"/>
              </a:solidFill>
              <a:effectLst/>
              <a:latin typeface="Outfit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8EC10E56-C773-73B5-140A-3F9039F68B69}"/>
              </a:ext>
            </a:extLst>
          </p:cNvPr>
          <p:cNvSpPr/>
          <p:nvPr/>
        </p:nvSpPr>
        <p:spPr>
          <a:xfrm>
            <a:off x="366978" y="111659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A3A8F"/>
                </a:solidFill>
                <a:latin typeface="Calibri" pitchFamily="34" charset="0"/>
                <a:cs typeface="Calibri" pitchFamily="34" charset="-120"/>
              </a:rPr>
              <a:t>Wholesale Credit Risk - Option</a:t>
            </a:r>
            <a:endParaRPr lang="en-US" sz="2933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D2631247-8D24-F347-42C4-0578DE888567}"/>
              </a:ext>
            </a:extLst>
          </p:cNvPr>
          <p:cNvSpPr/>
          <p:nvPr/>
        </p:nvSpPr>
        <p:spPr>
          <a:xfrm>
            <a:off x="229818" y="891804"/>
            <a:ext cx="10960608" cy="63867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375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773785-1C5E-F1A9-D30C-5348FA6CD347}"/>
              </a:ext>
            </a:extLst>
          </p:cNvPr>
          <p:cNvSpPr/>
          <p:nvPr/>
        </p:nvSpPr>
        <p:spPr>
          <a:xfrm>
            <a:off x="4852351" y="2636520"/>
            <a:ext cx="174095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A3A8F"/>
                </a:solidFill>
                <a:latin typeface="Calibri" pitchFamily="34" charset="0"/>
                <a:cs typeface="Calibri" pitchFamily="34" charset="-120"/>
              </a:rPr>
              <a:t>Thank You</a:t>
            </a:r>
            <a:endParaRPr lang="en-US" sz="2933" dirty="0"/>
          </a:p>
        </p:txBody>
      </p:sp>
    </p:spTree>
    <p:extLst>
      <p:ext uri="{BB962C8B-B14F-4D97-AF65-F5344CB8AC3E}">
        <p14:creationId xmlns:p14="http://schemas.microsoft.com/office/powerpoint/2010/main" val="2310994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4251</TotalTime>
  <Words>1648</Words>
  <Application>Microsoft Office PowerPoint</Application>
  <PresentationFormat>Widescreen</PresentationFormat>
  <Paragraphs>176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Fraunces</vt:lpstr>
      <vt:lpstr>JetBrains Mono</vt:lpstr>
      <vt:lpstr>Outfit</vt:lpstr>
      <vt:lpstr>Wingdings</vt:lpstr>
      <vt:lpstr>Office Theme</vt:lpstr>
      <vt:lpstr>1_Office Theme</vt:lpstr>
      <vt:lpstr>Credit Risk Specialist - Assignment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swapnil garg</dc:creator>
  <cp:lastModifiedBy>Palak Singhal</cp:lastModifiedBy>
  <cp:revision>4</cp:revision>
  <dcterms:created xsi:type="dcterms:W3CDTF">2026-04-19T09:04:51Z</dcterms:created>
  <dcterms:modified xsi:type="dcterms:W3CDTF">2026-04-23T07:34:47Z</dcterms:modified>
</cp:coreProperties>
</file>